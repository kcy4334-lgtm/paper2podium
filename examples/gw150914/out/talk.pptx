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Stand to the side of the screen. Wait for the room to settle.</a:t>
            </a:r>
          </a:p>
          <a:p/>
          <a:p>
            <a:r>
              <a:t>I am presenting this on behalf of the LIGO Scientific Collaboration and the Virgo Collaboration.</a:t>
            </a:r>
          </a:p>
          <a:p>
            <a:r>
              <a:t>What the two LIGO detectors saw on September 14, 2015, why it points to two black holes merging, and why it is not noise.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Walk the timeline left to right, then point at the last box.</a:t>
            </a:r>
          </a:p>
          <a:p/>
          <a:p>
            <a:r>
              <a:t>Einstein predicted these waves a century ago, and expected them to be remarkably small.</a:t>
            </a:r>
          </a:p>
          <a:p>
            <a:r>
              <a:t>The binary pulsar found by Hulse and Taylor showed that they exist, through the energy its orbit loses.</a:t>
            </a:r>
          </a:p>
          <a:p>
            <a:r>
              <a:t>But that is indirect. Nobody had measured the wave itself, and although many black hole candidates are known, no black hole merger had ever been observed.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Point at the left box, then the right box. Let them compare the two traces for a second.</a:t>
            </a:r>
          </a:p>
          <a:p/>
          <a:p>
            <a:r>
              <a:t>09:50:45 UTC, September 14, 2015. Strain is the fractional change in length the wave causes; here it peaks at 1.0 times ten to the minus 21.</a:t>
            </a:r>
          </a:p>
          <a:p>
            <a:r>
              <a:t>Look at the right panel. The blue line is Livingston. The orange line is Hanford, moved by 6.9 milliseconds and flipped, because the two detectors are oriented differently.</a:t>
            </a:r>
          </a:p>
          <a:p>
            <a:r>
              <a:t>They lie on top of each other, within the 10 milliseconds light needs between the sites. Combined signal-to-noise ratio: 24.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Trace the bright track upward with your hand.</a:t>
            </a:r>
          </a:p>
          <a:p/>
          <a:p>
            <a:r>
              <a:t>Here is the same event as a time-frequency map. Brighter means more signal.</a:t>
            </a:r>
          </a:p>
          <a:p>
            <a:r>
              <a:t>The track bends upward: the frequency and the amplitude both grow, in about 8 cycles, until the amplitude peaks near 150 hertz.</a:t>
            </a:r>
          </a:p>
          <a:p>
            <a:r>
              <a:t>Two orbiting masses losing energy to gravitational waves do exactly this. They spiral in, and orbit faster.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Do not read the formula. Point at f and f-dot, then go down the steps.</a:t>
            </a:r>
          </a:p>
          <a:p/>
          <a:p>
            <a:r>
              <a:t>The formula needs only the frequency and how fast it rises. That gives a chirp mass of about 30 solar masses, so at least 70 in total, in the detector frame. A Schwarzschild radius R_S is 2GM over c squared.</a:t>
            </a:r>
          </a:p>
          <a:p>
            <a:r>
              <a:t>The orbit runs at half the wave frequency, so a 150 hertz wave means 75 orbits per second. Put that much mass in such an orbit: two point masses would be only 350 kilometres apart, while their Schwarzschild radii alone add up to 210 kilometres.</a:t>
            </a:r>
          </a:p>
          <a:p>
            <a:r>
              <a:t>Neutron stars do not have the mass. A black hole and a neutron star with this chirp mass would be far heavier in total, and would merge at a much lower frequency.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Pause three seconds before speaking. Let them read the last line.</a:t>
            </a:r>
          </a:p>
          <a:p/>
          <a:p>
            <a:r>
              <a:t>Black holes are the only known objects compact enough to reach that orbit without contact. So this is a binary black hole.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Point at the ringdown box last.</a:t>
            </a:r>
          </a:p>
          <a:p/>
          <a:p>
            <a:r>
              <a:t>The red line is a numerical relativity waveform for a system consistent with the measured parameters. An independent calculation confirms it to 99.9 percent.</a:t>
            </a:r>
          </a:p>
          <a:p>
            <a:r>
              <a:t>The grey band is the signal reconstructed from the data with black hole templates. It is not the only reconstruction: one built from wavelets, with no astrophysical model, overlaps it by 94 percent.</a:t>
            </a:r>
          </a:p>
          <a:p>
            <a:r>
              <a:t>Look at the end. After the peak, the wave decays like the damped oscillations of one black hole relaxing to a final, stationary Kerr black hole, the rotating kind.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Point at the two arms, then at the dip in the noise curve.</a:t>
            </a:r>
          </a:p>
          <a:p/>
          <a:p>
            <a:r>
              <a:t>Before asking whether this could be noise, here is the instrument: a Michelson interferometer with two 4 kilometre arms. A wave stretches one arm and squeezes the other.</a:t>
            </a:r>
          </a:p>
          <a:p>
            <a:r>
              <a:t>Each arm cavity multiplies the effect 300 times; 20 watts of laser become 700 watts on the beam splitter and 100 kilowatts in each arm.</a:t>
            </a:r>
          </a:p>
          <a:p>
            <a:r>
              <a:t>The noise curve on the right is lowest between 100 and 300 hertz, where these detectors are 3 to 5 times more sensitive than initial LIGO.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Ask the room: what would you check first? Then point at the green box.</a:t>
            </a:r>
          </a:p>
          <a:p/>
          <a:p>
            <a:r>
              <a:t>The obvious worry is that something local shook the mirrors.</a:t>
            </a:r>
          </a:p>
          <a:p>
            <a:r>
              <a:t>Each site is covered with environmental sensors, and the team tested how the detectors respond to magnetic, radio, acoustic and vibration excitations. Anything strong enough to fake this signal would have shown up clearly.</a:t>
            </a:r>
          </a:p>
          <a:p>
            <a:r>
              <a:t>None did. In the second that contained the event, environmental fluctuations could explain no more than 6 percent of the strain.</a:t>
            </a:r>
          </a:p>
          <a:p>
            <a:r>
              <a:t>And nothing correlated turned up between the two sites.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Top row, then bottom row. Stress 'no waveform model'.</a:t>
            </a:r>
          </a:p>
          <a:p/>
          <a:p>
            <a:r>
              <a:t>Two searches found the event, and they do not share assumptions.</a:t>
            </a:r>
          </a:p>
          <a:p>
            <a:r>
              <a:t>The generic search needs no waveform model. Its statistic, eta-c, grows with the coherent signal energy and shrinks when the two detectors disagree.</a:t>
            </a:r>
          </a:p>
          <a:p>
            <a:r>
              <a:t>The binary search matches about 250,000 general relativity waveforms. Its statistic, rho-hat-c, is the signal-to-noise ratio, reduced when a chi-squared test says the data do not fit the template.</a:t>
            </a:r>
          </a:p>
          <a:p>
            <a:r>
              <a:t>Both sort events into three classes, so each event is judged only against background of its own kind.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Point at the middle box: this is the whole trick.</a:t>
            </a:r>
          </a:p>
          <a:p/>
          <a:p>
            <a:r>
              <a:t>How often does noise alone make something this loud? The noise is not Gaussian and changes over time, so it cannot be computed. And no shield blocks gravitational waves.</a:t>
            </a:r>
          </a:p>
          <a:p>
            <a:r>
              <a:t>So one detector's data is slid in time by far more than the 10 milliseconds between sites; any coincidence left must be noise. About ten million such shifts give 608,000 years of background, from 16 days of data.</a:t>
            </a:r>
          </a:p>
          <a:p>
            <a:r>
              <a:t>A real signal can still leak into this background, so the estimate errs on the conservative side.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Point at the right marker, then run your hand along the black background line to where it stops.</a:t>
            </a:r>
          </a:p>
          <a:p/>
          <a:p>
            <a:r>
              <a:t>Markers are candidates, lines are background. On the right, the event sits at 23.6, beyond every background event.</a:t>
            </a:r>
          </a:p>
          <a:p>
            <a:r>
              <a:t>The flat tail is the event itself in one detector, paired with noise in the other. Without it, the purple line, the next strongest candidate has a false alarm rate of 1 per 2.3 years.</a:t>
            </a:r>
          </a:p>
          <a:p>
            <a:r>
              <a:t>On the left, the generic search finds it as its strongest event, at 20.0, in the rising-frequency class C3. That shape requirement removes noise from the background. Drop it, and compare against noise of any shape, and four background events reach 32.1: the false alarm rate becomes 1 in 8,400 years, 4.4 sigma, still significant.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Put it up, wait three seconds, then speak.</a:t>
            </a:r>
          </a:p>
          <a:p/>
          <a:p>
            <a:r>
              <a:t>The binary search bounds the false alarm rate below 1 in 203,000 years, more than 5.1 sigma.</a:t>
            </a:r>
          </a:p>
          <a:p>
            <a:r>
              <a:t>The generic search, with no waveform model at all, gives a false alarm rate lower than 1 in 22,500 years, 4.6 sigma.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Point at the three mass rows, then at the 3.0 on the right.</a:t>
            </a:r>
          </a:p>
          <a:p/>
          <a:p>
            <a:r>
              <a:t>A Bayesian analysis with several waveform models gives source-frame masses; the detector-frame 70 earlier is larger by one plus the redshift. Thirty-six and twenty-nine solar masses went in, sixty-two came out. About three solar masses were radiated as gravitational waves.</a:t>
            </a:r>
          </a:p>
          <a:p>
            <a:r>
              <a:t>At its peak the system radiated 3.6 times ten to the 56 erg/s, which is 200 solar masses of energy per second.</a:t>
            </a:r>
          </a:p>
          <a:p>
            <a:r>
              <a:t>The primary's spin is below 0.7, so it is not maximally spinning. The source is about 410 megaparsecs away, redshift 0.09. All ranges are 90 percent credible intervals.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Read the result column top to bottom, then the note.</a:t>
            </a:r>
          </a:p>
          <a:p/>
          <a:p>
            <a:r>
              <a:t>Three checks. The final mass and spin from the early and the late part of the signal agree. The inspiral phase coefficients show no deviation.</a:t>
            </a:r>
          </a:p>
          <a:p>
            <a:r>
              <a:t>And if the graviton had a mass, the waves would follow a modified dispersion relation. Its Compton wavelength λ must exceed ten to the 13 kilometres, so its mass is bounded below 1.2 times ten to the minus 22 electron volts. That beats the Solar System and binary pulsar bounds, but not those from galaxy clusters and weak lensing.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One sentence, then the rate range. Do not overstate the rate.</a:t>
            </a:r>
          </a:p>
          <a:p/>
          <a:p>
            <a:r>
              <a:t>It shows that black holes of more than about 25 solar masses exist, and that binaries of them form and merge within a Hubble time.</a:t>
            </a:r>
          </a:p>
          <a:p>
            <a:r>
              <a:t>The first rate estimates range from 2 to 400 mergers per cubic gigaparsec per year, depending on the mass model. Only the lowest predictions are excluded.</a:t>
            </a:r>
          </a:p>
          <a:p>
            <a:r>
              <a:t>For stars to leave black holes this heavy, their winds must be weak, which is possible where metallicity is below about half the solar value.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Left column first. Do not skip the limits.</a:t>
            </a:r>
          </a:p>
          <a:p/>
          <a:p>
            <a:r>
              <a:t>Three things this paper cannot say yet. Only LIGO was observing, so the sky position is an area of about 600 square degrees, fixed mainly by the arrival-time difference.</a:t>
            </a:r>
          </a:p>
          <a:p>
            <a:r>
              <a:t>The spin of the smaller black hole is only weakly constrained. And these are 16 days of coincident data out of the first observing run.</a:t>
            </a:r>
          </a:p>
          <a:p>
            <a:r>
              <a:t>At design sensitivity, such a binary would have three times the SNR, and Virgo, KAGRA and a planned detector in India will improve the positions.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[cue] Say it once, slowly. Then invite questions.</a:t>
            </a:r>
          </a:p>
          <a:p/>
          <a:p>
            <a:r>
              <a:t>The detected waveform matches general relativity's prediction for two black holes spiralling in, merging, and ringing down. This is the first direct detection of gravitational waves and the first observation of a binary black hole merger. Thank you.</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rho-hat-c and eta-c are the ranking statistics of the binary and the generic search. Here are all the significance numbers for GW150914 from both, including the two-class generic search, where four background events reach 32.1, and the second strongest candidate.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about the instrument: these are the detector numbers from the paper.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645919"/>
            <a:ext cx="10728960" cy="1106424"/>
          </a:xfrm>
          <a:prstGeom prst="rect">
            <a:avLst/>
          </a:prstGeom>
          <a:noFill/>
        </p:spPr>
        <p:txBody>
          <a:bodyPr wrap="square" anchor="t">
            <a:spAutoFit/>
          </a:bodyPr>
          <a:lstStyle/>
          <a:p>
            <a:pPr algn="l">
              <a:lnSpc>
                <a:spcPct val="115000"/>
              </a:lnSpc>
            </a:pPr>
            <a:r>
              <a:rPr sz="3000" b="1" i="0">
                <a:solidFill>
                  <a:srgbClr val="23373B"/>
                </a:solidFill>
                <a:latin typeface="Arial"/>
              </a:rPr>
              <a:t>Observation of Gravitational Waves from a Binary Black Hole Merger</a:t>
            </a:r>
            <a:endParaRPr sz="3000"/>
          </a:p>
        </p:txBody>
      </p:sp>
      <p:sp>
        <p:nvSpPr>
          <p:cNvPr id="3" name="TextBox 2"/>
          <p:cNvSpPr txBox="1"/>
          <p:nvPr/>
        </p:nvSpPr>
        <p:spPr>
          <a:xfrm>
            <a:off x="731520" y="2843784"/>
            <a:ext cx="10728960" cy="422909"/>
          </a:xfrm>
          <a:prstGeom prst="rect">
            <a:avLst/>
          </a:prstGeom>
          <a:noFill/>
        </p:spPr>
        <p:txBody>
          <a:bodyPr wrap="square" anchor="t">
            <a:spAutoFit/>
          </a:bodyPr>
          <a:lstStyle/>
          <a:p>
            <a:pPr algn="l">
              <a:lnSpc>
                <a:spcPct val="115000"/>
              </a:lnSpc>
            </a:pPr>
            <a:r>
              <a:rPr sz="2100" b="0" i="0">
                <a:solidFill>
                  <a:srgbClr val="23373B"/>
                </a:solidFill>
                <a:latin typeface="Arial"/>
              </a:rPr>
              <a:t>GW150914, seen by both LIGO detectors on September 14, 2015</a:t>
            </a:r>
            <a:endParaRPr sz="2100"/>
          </a:p>
        </p:txBody>
      </p:sp>
      <p:cxnSp>
        <p:nvCxnSpPr>
          <p:cNvPr id="4" name="Connector 3"/>
          <p:cNvCxnSpPr/>
          <p:nvPr/>
        </p:nvCxnSpPr>
        <p:spPr>
          <a:xfrm>
            <a:off x="731520" y="3467862"/>
            <a:ext cx="10728960" cy="0"/>
          </a:xfrm>
          <a:prstGeom prst="line">
            <a:avLst/>
          </a:prstGeom>
          <a:ln w="10160">
            <a:solidFill>
              <a:srgbClr val="EB811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3696462"/>
            <a:ext cx="10728960" cy="378714"/>
          </a:xfrm>
          <a:prstGeom prst="rect">
            <a:avLst/>
          </a:prstGeom>
          <a:noFill/>
        </p:spPr>
        <p:txBody>
          <a:bodyPr wrap="square" anchor="t">
            <a:spAutoFit/>
          </a:bodyPr>
          <a:lstStyle/>
          <a:p>
            <a:pPr algn="l">
              <a:lnSpc>
                <a:spcPct val="115000"/>
              </a:lnSpc>
            </a:pPr>
            <a:r>
              <a:rPr sz="1700" b="0" i="0">
                <a:solidFill>
                  <a:srgbClr val="23373B"/>
                </a:solidFill>
                <a:latin typeface="Arial"/>
              </a:rPr>
              <a:t/>
            </a:r>
            <a:r>
              <a:rPr sz="1700" u="none">
                <a:solidFill>
                  <a:srgbClr val="23373B"/>
                </a:solidFill>
                <a:latin typeface="Arial"/>
              </a:rPr>
              <a:t>B. P. Abbott et al.</a:t>
            </a:r>
            <a:endParaRPr sz="1700"/>
          </a:p>
        </p:txBody>
      </p:sp>
      <p:sp>
        <p:nvSpPr>
          <p:cNvPr id="6" name="TextBox 5"/>
          <p:cNvSpPr txBox="1"/>
          <p:nvPr/>
        </p:nvSpPr>
        <p:spPr>
          <a:xfrm>
            <a:off x="731520" y="4111752"/>
            <a:ext cx="10728960" cy="269875"/>
          </a:xfrm>
          <a:prstGeom prst="rect">
            <a:avLst/>
          </a:prstGeom>
          <a:noFill/>
        </p:spPr>
        <p:txBody>
          <a:bodyPr wrap="square" anchor="t">
            <a:spAutoFit/>
          </a:bodyPr>
          <a:lstStyle/>
          <a:p>
            <a:pPr algn="l">
              <a:lnSpc>
                <a:spcPct val="115000"/>
              </a:lnSpc>
            </a:pPr>
            <a:r>
              <a:rPr sz="1700" b="0" i="0">
                <a:solidFill>
                  <a:srgbClr val="23373B"/>
                </a:solidFill>
                <a:latin typeface="Arial"/>
              </a:rPr>
              <a:t>Conference talk based on Phys. Rev. Lett. 116, 061102 (2016)</a:t>
            </a:r>
            <a:endParaRPr sz="1700"/>
          </a:p>
        </p:txBody>
      </p:sp>
      <p:sp>
        <p:nvSpPr>
          <p:cNvPr id="7" name="TextBox 6"/>
          <p:cNvSpPr txBox="1"/>
          <p:nvPr/>
        </p:nvSpPr>
        <p:spPr>
          <a:xfrm>
            <a:off x="731520" y="4473067"/>
            <a:ext cx="10728960" cy="206375"/>
          </a:xfrm>
          <a:prstGeom prst="rect">
            <a:avLst/>
          </a:prstGeom>
          <a:noFill/>
        </p:spPr>
        <p:txBody>
          <a:bodyPr wrap="square" anchor="t">
            <a:spAutoFit/>
          </a:bodyPr>
          <a:lstStyle/>
          <a:p>
            <a:pPr algn="l">
              <a:lnSpc>
                <a:spcPct val="115000"/>
              </a:lnSpc>
            </a:pPr>
            <a:r>
              <a:rPr sz="1300" b="0" i="0">
                <a:solidFill>
                  <a:srgbClr val="23373B"/>
                </a:solidFill>
                <a:latin typeface="Arial"/>
              </a:rPr>
              <a:t>LIGO Scientific Collaboration and Virgo Collaboration</a:t>
            </a:r>
            <a:endParaRPr sz="130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86384"/>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tIns="109728"/>
          <a:lstStyle/>
          <a:p>
            <a:pPr algn="l"/>
            <a:r>
              <a:rPr sz="2500" b="1" i="0">
                <a:solidFill>
                  <a:srgbClr val="FFFFFF"/>
                </a:solidFill>
                <a:latin typeface="Arial"/>
              </a:rPr>
              <a:t>Predicted in 1916, never caught directly</a:t>
            </a:r>
            <a:endParaRPr sz="2500"/>
          </a:p>
        </p:txBody>
      </p:sp>
      <p:sp>
        <p:nvSpPr>
          <p:cNvPr id="3" name="Rectangle 2"/>
          <p:cNvSpPr/>
          <p:nvPr/>
        </p:nvSpPr>
        <p:spPr>
          <a:xfrm>
            <a:off x="0" y="786384"/>
            <a:ext cx="870857" cy="41148"/>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2t-pagenum"/>
          <p:cNvSpPr txBox="1"/>
          <p:nvPr/>
        </p:nvSpPr>
        <p:spPr>
          <a:xfrm>
            <a:off x="11140440" y="6446520"/>
            <a:ext cx="731520" cy="274320"/>
          </a:xfrm>
          <a:prstGeom prst="rect">
            <a:avLst/>
          </a:prstGeom>
          <a:noFill/>
        </p:spPr>
        <p:txBody>
          <a:bodyPr wrap="square" anchor="t">
            <a:spAutoFit/>
          </a:bodyPr>
          <a:lstStyle/>
          <a:p>
            <a:pPr algn="r">
              <a:lnSpc>
                <a:spcPct val="115000"/>
              </a:lnSpc>
            </a:pPr>
            <a:r>
              <a:rPr sz="1700" b="0" i="0">
                <a:solidFill>
                  <a:srgbClr val="666666"/>
                </a:solidFill>
                <a:latin typeface="Arial"/>
              </a:rPr>
              <a:t>1/14</a:t>
            </a:r>
            <a:endParaRPr sz="1700"/>
          </a:p>
        </p:txBody>
      </p:sp>
      <p:pic>
        <p:nvPicPr>
          <p:cNvPr id="5" name="Picture 4" descr="diagram_02_self.png"/>
          <p:cNvPicPr>
            <a:picLocks noChangeAspect="1"/>
          </p:cNvPicPr>
          <p:nvPr/>
        </p:nvPicPr>
        <p:blipFill>
          <a:blip r:embed="rId2"/>
          <a:stretch>
            <a:fillRect/>
          </a:stretch>
        </p:blipFill>
        <p:spPr>
          <a:xfrm>
            <a:off x="502920" y="932688"/>
            <a:ext cx="11186160" cy="2192568"/>
          </a:xfrm>
          <a:prstGeom prst="rect">
            <a:avLst/>
          </a:prstGeom>
        </p:spPr>
      </p:pic>
      <p:sp>
        <p:nvSpPr>
          <p:cNvPr id="6" name="TextBox 5"/>
          <p:cNvSpPr txBox="1"/>
          <p:nvPr/>
        </p:nvSpPr>
        <p:spPr>
          <a:xfrm>
            <a:off x="502920" y="3289848"/>
            <a:ext cx="11186160" cy="982980"/>
          </a:xfrm>
          <a:prstGeom prst="rect">
            <a:avLst/>
          </a:prstGeom>
          <a:noFill/>
        </p:spPr>
        <p:txBody>
          <a:bodyPr wrap="square" anchor="t">
            <a:spAutoFit/>
          </a:bodyPr>
          <a:lstStyle/>
          <a:p>
            <a:pPr algn="l" marL="165354" indent="-165354">
              <a:lnSpc>
                <a:spcPct val="145000"/>
              </a:lnSpc>
            </a:pPr>
            <a:r>
              <a:rPr sz="2100" b="0" i="0">
                <a:solidFill>
                  <a:srgbClr val="23373B"/>
                </a:solidFill>
                <a:latin typeface="Arial"/>
              </a:rPr>
              <a:t>• The waves were known to exist, but </a:t>
            </a:r>
            <a:r>
              <a:rPr sz="2100" b="1" i="0">
                <a:solidFill>
                  <a:srgbClr val="23373B"/>
                </a:solidFill>
                <a:latin typeface="Arial"/>
              </a:rPr>
              <a:t>no one had detected one directly, or seen two black holes merge</a:t>
            </a:r>
            <a:r>
              <a:rPr sz="2100" b="0" i="0">
                <a:solidFill>
                  <a:srgbClr val="23373B"/>
                </a:solidFill>
                <a:latin typeface="Arial"/>
              </a:rPr>
              <a:t>.</a:t>
            </a:r>
            <a:endParaRPr sz="21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86384"/>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tIns="109728"/>
          <a:lstStyle/>
          <a:p>
            <a:pPr algn="l"/>
            <a:r>
              <a:rPr sz="2500" b="1" i="0">
                <a:solidFill>
                  <a:srgbClr val="FFFFFF"/>
                </a:solidFill>
                <a:latin typeface="Arial"/>
              </a:rPr>
              <a:t>Two detectors, one wave, 6.9 ms apart</a:t>
            </a:r>
            <a:endParaRPr sz="2500"/>
          </a:p>
        </p:txBody>
      </p:sp>
      <p:sp>
        <p:nvSpPr>
          <p:cNvPr id="3" name="Rectangle 2"/>
          <p:cNvSpPr/>
          <p:nvPr/>
        </p:nvSpPr>
        <p:spPr>
          <a:xfrm>
            <a:off x="0" y="786384"/>
            <a:ext cx="1741714" cy="41148"/>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2t-pagenum"/>
          <p:cNvSpPr txBox="1"/>
          <p:nvPr/>
        </p:nvSpPr>
        <p:spPr>
          <a:xfrm>
            <a:off x="11140440" y="6446520"/>
            <a:ext cx="731520" cy="274320"/>
          </a:xfrm>
          <a:prstGeom prst="rect">
            <a:avLst/>
          </a:prstGeom>
          <a:noFill/>
        </p:spPr>
        <p:txBody>
          <a:bodyPr wrap="square" anchor="t">
            <a:spAutoFit/>
          </a:bodyPr>
          <a:lstStyle/>
          <a:p>
            <a:pPr algn="r">
              <a:lnSpc>
                <a:spcPct val="115000"/>
              </a:lnSpc>
            </a:pPr>
            <a:r>
              <a:rPr sz="1700" b="0" i="0">
                <a:solidFill>
                  <a:srgbClr val="666666"/>
                </a:solidFill>
                <a:latin typeface="Arial"/>
              </a:rPr>
              <a:t>2/14</a:t>
            </a:r>
            <a:endParaRPr sz="1700"/>
          </a:p>
        </p:txBody>
      </p:sp>
      <p:sp>
        <p:nvSpPr>
          <p:cNvPr id="5" name="TextBox 4"/>
          <p:cNvSpPr txBox="1"/>
          <p:nvPr/>
        </p:nvSpPr>
        <p:spPr>
          <a:xfrm>
            <a:off x="502920" y="932688"/>
            <a:ext cx="11186160" cy="416814"/>
          </a:xfrm>
          <a:prstGeom prst="rect">
            <a:avLst/>
          </a:prstGeom>
          <a:noFill/>
        </p:spPr>
        <p:txBody>
          <a:bodyPr wrap="square" anchor="t">
            <a:spAutoFit/>
          </a:bodyPr>
          <a:lstStyle/>
          <a:p>
            <a:pPr algn="l">
              <a:lnSpc>
                <a:spcPct val="115000"/>
              </a:lnSpc>
            </a:pPr>
            <a:r>
              <a:rPr sz="1900" b="0" i="0">
                <a:solidFill>
                  <a:srgbClr val="23373B"/>
                </a:solidFill>
                <a:latin typeface="Arial"/>
              </a:rPr>
              <a:t>September 14, 2015, 09:50:45 UTC: LIGO Hanford (H1) and Livingston (L1)</a:t>
            </a:r>
            <a:endParaRPr sz="1900"/>
          </a:p>
        </p:txBody>
      </p:sp>
      <p:pic>
        <p:nvPicPr>
          <p:cNvPr id="6" name="Picture 5" descr="fig_1__crop_035_000_965_290.png"/>
          <p:cNvPicPr>
            <a:picLocks noChangeAspect="1"/>
          </p:cNvPicPr>
          <p:nvPr/>
        </p:nvPicPr>
        <p:blipFill>
          <a:blip r:embed="rId2"/>
          <a:stretch>
            <a:fillRect/>
          </a:stretch>
        </p:blipFill>
        <p:spPr>
          <a:xfrm>
            <a:off x="641802" y="1422653"/>
            <a:ext cx="10908395" cy="2652522"/>
          </a:xfrm>
          <a:prstGeom prst="rect">
            <a:avLst/>
          </a:prstGeom>
        </p:spPr>
      </p:pic>
      <p:sp>
        <p:nvSpPr>
          <p:cNvPr id="7" name="p2t-highlight"/>
          <p:cNvSpPr/>
          <p:nvPr/>
        </p:nvSpPr>
        <p:spPr>
          <a:xfrm>
            <a:off x="4350656" y="2059259"/>
            <a:ext cx="981755" cy="1856765"/>
          </a:xfrm>
          <a:prstGeom prst="rect">
            <a:avLst/>
          </a:prstGeom>
          <a:noFill/>
          <a:ln w="25400">
            <a:solidFill>
              <a:srgbClr val="A257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2t-highlight"/>
          <p:cNvSpPr txBox="1"/>
          <p:nvPr/>
        </p:nvSpPr>
        <p:spPr>
          <a:xfrm>
            <a:off x="4350656" y="1784939"/>
            <a:ext cx="981755" cy="256032"/>
          </a:xfrm>
          <a:prstGeom prst="rect">
            <a:avLst/>
          </a:prstGeom>
          <a:noFill/>
        </p:spPr>
        <p:txBody>
          <a:bodyPr wrap="none" anchor="t">
            <a:spAutoFit/>
          </a:bodyPr>
          <a:lstStyle/>
          <a:p>
            <a:pPr algn="l">
              <a:lnSpc>
                <a:spcPct val="115000"/>
              </a:lnSpc>
            </a:pPr>
            <a:r>
              <a:rPr sz="1500" b="1" i="0">
                <a:solidFill>
                  <a:srgbClr val="A2570E"/>
                </a:solidFill>
                <a:latin typeface="Arial"/>
              </a:rPr>
              <a:t>H1</a:t>
            </a:r>
            <a:endParaRPr sz="1500"/>
          </a:p>
        </p:txBody>
      </p:sp>
      <p:sp>
        <p:nvSpPr>
          <p:cNvPr id="9" name="p2t-highlight"/>
          <p:cNvSpPr/>
          <p:nvPr/>
        </p:nvSpPr>
        <p:spPr>
          <a:xfrm>
            <a:off x="8932182" y="2059259"/>
            <a:ext cx="981755" cy="1856765"/>
          </a:xfrm>
          <a:prstGeom prst="rect">
            <a:avLst/>
          </a:prstGeom>
          <a:noFill/>
          <a:ln w="25400">
            <a:solidFill>
              <a:srgbClr val="A257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2t-highlight"/>
          <p:cNvSpPr txBox="1"/>
          <p:nvPr/>
        </p:nvSpPr>
        <p:spPr>
          <a:xfrm>
            <a:off x="7614603" y="1784939"/>
            <a:ext cx="2299335" cy="256032"/>
          </a:xfrm>
          <a:prstGeom prst="rect">
            <a:avLst/>
          </a:prstGeom>
          <a:noFill/>
        </p:spPr>
        <p:txBody>
          <a:bodyPr wrap="none" anchor="t">
            <a:spAutoFit/>
          </a:bodyPr>
          <a:lstStyle/>
          <a:p>
            <a:pPr algn="r">
              <a:lnSpc>
                <a:spcPct val="115000"/>
              </a:lnSpc>
            </a:pPr>
            <a:r>
              <a:rPr sz="1500" b="1" i="0">
                <a:solidFill>
                  <a:srgbClr val="A2570E"/>
                </a:solidFill>
                <a:latin typeface="Arial"/>
              </a:rPr>
              <a:t>L1, with H1 laid on top</a:t>
            </a:r>
            <a:endParaRPr sz="1500"/>
          </a:p>
        </p:txBody>
      </p:sp>
      <p:sp>
        <p:nvSpPr>
          <p:cNvPr id="11" name="TextBox 10"/>
          <p:cNvSpPr txBox="1"/>
          <p:nvPr/>
        </p:nvSpPr>
        <p:spPr>
          <a:xfrm>
            <a:off x="502920" y="4166616"/>
            <a:ext cx="11186160" cy="457200"/>
          </a:xfrm>
          <a:prstGeom prst="rect">
            <a:avLst/>
          </a:prstGeom>
          <a:noFill/>
        </p:spPr>
        <p:txBody>
          <a:bodyPr wrap="square" anchor="t">
            <a:spAutoFit/>
          </a:bodyPr>
          <a:lstStyle/>
          <a:p>
            <a:pPr algn="ctr">
              <a:lnSpc>
                <a:spcPct val="115000"/>
              </a:lnSpc>
            </a:pPr>
            <a:r>
              <a:rPr sz="1700" b="0" i="0">
                <a:solidFill>
                  <a:srgbClr val="666666"/>
                </a:solidFill>
                <a:latin typeface="Arial"/>
              </a:rPr>
              <a:t>Paper Fig. 1, top row. Strain in units of 10</a:t>
            </a:r>
            <a:r>
              <a:rPr sz="1700" b="0" i="0" baseline="30000">
                <a:solidFill>
                  <a:srgbClr val="666666"/>
                </a:solidFill>
                <a:latin typeface="Arial"/>
              </a:rPr>
              <a:t>-21</a:t>
            </a:r>
            <a:r>
              <a:rPr sz="1700" b="0" i="0">
                <a:solidFill>
                  <a:srgbClr val="666666"/>
                </a:solidFill>
                <a:latin typeface="Arial"/>
              </a:rPr>
              <a:t>, filtered to 35-350 Hz for display.</a:t>
            </a:r>
            <a:endParaRPr sz="1700"/>
          </a:p>
        </p:txBody>
      </p:sp>
      <p:sp>
        <p:nvSpPr>
          <p:cNvPr id="12" name="TextBox 11"/>
          <p:cNvSpPr txBox="1"/>
          <p:nvPr/>
        </p:nvSpPr>
        <p:spPr>
          <a:xfrm>
            <a:off x="502920" y="4742688"/>
            <a:ext cx="11186160" cy="982980"/>
          </a:xfrm>
          <a:prstGeom prst="rect">
            <a:avLst/>
          </a:prstGeom>
          <a:noFill/>
        </p:spPr>
        <p:txBody>
          <a:bodyPr wrap="square" anchor="t">
            <a:spAutoFit/>
          </a:bodyPr>
          <a:lstStyle/>
          <a:p>
            <a:pPr algn="l" marL="165354" indent="-165354">
              <a:lnSpc>
                <a:spcPct val="145000"/>
              </a:lnSpc>
            </a:pPr>
            <a:r>
              <a:rPr sz="2100" b="0" i="0">
                <a:solidFill>
                  <a:srgbClr val="23373B"/>
                </a:solidFill>
                <a:latin typeface="Arial"/>
              </a:rPr>
              <a:t>• The wave reached Livingston first; </a:t>
            </a:r>
            <a:r>
              <a:rPr sz="2100" b="1" i="0">
                <a:solidFill>
                  <a:srgbClr val="23373B"/>
                </a:solidFill>
                <a:latin typeface="Arial"/>
              </a:rPr>
              <a:t>shifted by 6.9 ms and inverted</a:t>
            </a:r>
            <a:r>
              <a:rPr sz="2100" b="0" i="0">
                <a:solidFill>
                  <a:srgbClr val="23373B"/>
                </a:solidFill>
                <a:latin typeface="Arial"/>
              </a:rPr>
              <a:t>, Hanford's trace lies on Livingston's.</a:t>
            </a:r>
            <a:endParaRPr sz="2100"/>
          </a:p>
        </p:txBody>
      </p:sp>
      <p:sp>
        <p:nvSpPr>
          <p:cNvPr id="13" name="TextBox 12"/>
          <p:cNvSpPr txBox="1"/>
          <p:nvPr/>
        </p:nvSpPr>
        <p:spPr>
          <a:xfrm>
            <a:off x="502920" y="5839206"/>
            <a:ext cx="11186160" cy="378714"/>
          </a:xfrm>
          <a:prstGeom prst="rect">
            <a:avLst/>
          </a:prstGeom>
          <a:noFill/>
        </p:spPr>
        <p:txBody>
          <a:bodyPr wrap="square" anchor="t">
            <a:spAutoFit/>
          </a:bodyPr>
          <a:lstStyle/>
          <a:p>
            <a:pPr algn="l">
              <a:lnSpc>
                <a:spcPct val="125000"/>
              </a:lnSpc>
            </a:pPr>
            <a:r>
              <a:rPr sz="1700" b="0" i="0">
                <a:solidFill>
                  <a:srgbClr val="666666"/>
                </a:solidFill>
                <a:latin typeface="Arial"/>
              </a:rPr>
              <a:t>Peak strain 1.0 × 10</a:t>
            </a:r>
            <a:r>
              <a:rPr sz="1700" b="0" i="0" baseline="30000">
                <a:solidFill>
                  <a:srgbClr val="666666"/>
                </a:solidFill>
                <a:latin typeface="Arial"/>
              </a:rPr>
              <a:t>-21</a:t>
            </a:r>
            <a:r>
              <a:rPr sz="1700" b="0" i="0">
                <a:solidFill>
                  <a:srgbClr val="666666"/>
                </a:solidFill>
                <a:latin typeface="Arial"/>
              </a:rPr>
              <a:t>. Combined matched-filter signal-to-noise ratio: </a:t>
            </a:r>
            <a:r>
              <a:rPr sz="1700" b="1" i="0">
                <a:solidFill>
                  <a:srgbClr val="666666"/>
                </a:solidFill>
                <a:latin typeface="Arial"/>
              </a:rPr>
              <a:t>24</a:t>
            </a:r>
            <a:r>
              <a:rPr sz="1700" b="0" i="0">
                <a:solidFill>
                  <a:srgbClr val="666666"/>
                </a:solidFill>
                <a:latin typeface="Arial"/>
              </a:rPr>
              <a:t>.</a:t>
            </a:r>
            <a:endParaRPr sz="170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86384"/>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tIns="109728"/>
          <a:lstStyle/>
          <a:p>
            <a:pPr algn="l"/>
            <a:r>
              <a:rPr sz="2500" b="1" i="0">
                <a:solidFill>
                  <a:srgbClr val="FFFFFF"/>
                </a:solidFill>
                <a:latin typeface="Arial"/>
              </a:rPr>
              <a:t>Watch the frequency climb</a:t>
            </a:r>
            <a:endParaRPr sz="2500"/>
          </a:p>
        </p:txBody>
      </p:sp>
      <p:sp>
        <p:nvSpPr>
          <p:cNvPr id="3" name="Rectangle 2"/>
          <p:cNvSpPr/>
          <p:nvPr/>
        </p:nvSpPr>
        <p:spPr>
          <a:xfrm>
            <a:off x="0" y="786384"/>
            <a:ext cx="2612571" cy="41148"/>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2t-pagenum"/>
          <p:cNvSpPr txBox="1"/>
          <p:nvPr/>
        </p:nvSpPr>
        <p:spPr>
          <a:xfrm>
            <a:off x="11140440" y="6446520"/>
            <a:ext cx="731520" cy="274320"/>
          </a:xfrm>
          <a:prstGeom prst="rect">
            <a:avLst/>
          </a:prstGeom>
          <a:noFill/>
        </p:spPr>
        <p:txBody>
          <a:bodyPr wrap="square" anchor="t">
            <a:spAutoFit/>
          </a:bodyPr>
          <a:lstStyle/>
          <a:p>
            <a:pPr algn="r">
              <a:lnSpc>
                <a:spcPct val="115000"/>
              </a:lnSpc>
            </a:pPr>
            <a:r>
              <a:rPr sz="1700" b="0" i="0">
                <a:solidFill>
                  <a:srgbClr val="666666"/>
                </a:solidFill>
                <a:latin typeface="Arial"/>
              </a:rPr>
              <a:t>3/14</a:t>
            </a:r>
            <a:endParaRPr sz="1700"/>
          </a:p>
        </p:txBody>
      </p:sp>
      <p:pic>
        <p:nvPicPr>
          <p:cNvPr id="5" name="Picture 4" descr="fig_1__crop_000_665_1000_335.png"/>
          <p:cNvPicPr>
            <a:picLocks noChangeAspect="1"/>
          </p:cNvPicPr>
          <p:nvPr/>
        </p:nvPicPr>
        <p:blipFill>
          <a:blip r:embed="rId2"/>
          <a:stretch>
            <a:fillRect/>
          </a:stretch>
        </p:blipFill>
        <p:spPr>
          <a:xfrm>
            <a:off x="502920" y="932688"/>
            <a:ext cx="11186160" cy="3031912"/>
          </a:xfrm>
          <a:prstGeom prst="rect">
            <a:avLst/>
          </a:prstGeom>
        </p:spPr>
      </p:pic>
      <p:sp>
        <p:nvSpPr>
          <p:cNvPr id="6" name="p2t-highlight"/>
          <p:cNvSpPr/>
          <p:nvPr/>
        </p:nvSpPr>
        <p:spPr>
          <a:xfrm>
            <a:off x="4082491" y="1235879"/>
            <a:ext cx="1454200" cy="1758509"/>
          </a:xfrm>
          <a:prstGeom prst="rect">
            <a:avLst/>
          </a:prstGeom>
          <a:noFill/>
          <a:ln w="25400">
            <a:solidFill>
              <a:srgbClr val="A257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056040"/>
            <a:ext cx="11186160" cy="457200"/>
          </a:xfrm>
          <a:prstGeom prst="rect">
            <a:avLst/>
          </a:prstGeom>
          <a:noFill/>
        </p:spPr>
        <p:txBody>
          <a:bodyPr wrap="square" anchor="t">
            <a:spAutoFit/>
          </a:bodyPr>
          <a:lstStyle/>
          <a:p>
            <a:pPr algn="ctr">
              <a:lnSpc>
                <a:spcPct val="115000"/>
              </a:lnSpc>
            </a:pPr>
            <a:r>
              <a:rPr sz="1700" b="0" i="0">
                <a:solidFill>
                  <a:srgbClr val="666666"/>
                </a:solidFill>
                <a:latin typeface="Arial"/>
              </a:rPr>
              <a:t>Paper Fig. 1, bottom row: time-frequency map of the strain in H1 (left) and L1 (right).</a:t>
            </a:r>
            <a:endParaRPr sz="1700"/>
          </a:p>
        </p:txBody>
      </p:sp>
      <p:sp>
        <p:nvSpPr>
          <p:cNvPr id="8" name="TextBox 7"/>
          <p:cNvSpPr txBox="1"/>
          <p:nvPr/>
        </p:nvSpPr>
        <p:spPr>
          <a:xfrm>
            <a:off x="502920" y="4632112"/>
            <a:ext cx="11186160" cy="982980"/>
          </a:xfrm>
          <a:prstGeom prst="rect">
            <a:avLst/>
          </a:prstGeom>
          <a:noFill/>
        </p:spPr>
        <p:txBody>
          <a:bodyPr wrap="square" anchor="t">
            <a:spAutoFit/>
          </a:bodyPr>
          <a:lstStyle/>
          <a:p>
            <a:pPr algn="l" marL="165354" indent="-165354">
              <a:lnSpc>
                <a:spcPct val="145000"/>
              </a:lnSpc>
            </a:pPr>
            <a:r>
              <a:rPr sz="2100" b="0" i="0">
                <a:solidFill>
                  <a:srgbClr val="23373B"/>
                </a:solidFill>
                <a:latin typeface="Arial"/>
              </a:rPr>
              <a:t>• In </a:t>
            </a:r>
            <a:r>
              <a:rPr sz="2100" b="1" i="0">
                <a:solidFill>
                  <a:srgbClr val="23373B"/>
                </a:solidFill>
                <a:latin typeface="Arial"/>
              </a:rPr>
              <a:t>0.2 s</a:t>
            </a:r>
            <a:r>
              <a:rPr sz="2100" b="0" i="0">
                <a:solidFill>
                  <a:srgbClr val="23373B"/>
                </a:solidFill>
                <a:latin typeface="Arial"/>
              </a:rPr>
              <a:t> the signal rises in frequency and amplitude, about </a:t>
            </a:r>
            <a:r>
              <a:rPr sz="2100" b="1" i="0">
                <a:solidFill>
                  <a:srgbClr val="23373B"/>
                </a:solidFill>
                <a:latin typeface="Arial"/>
              </a:rPr>
              <a:t>8 cycles from 35 to 150 Hz</a:t>
            </a:r>
            <a:r>
              <a:rPr sz="2100" b="0" i="0">
                <a:solidFill>
                  <a:srgbClr val="23373B"/>
                </a:solidFill>
                <a:latin typeface="Arial"/>
              </a:rPr>
              <a:t>, where the amplitude peaks.</a:t>
            </a:r>
            <a:endParaRPr sz="210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86384"/>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tIns="109728"/>
          <a:lstStyle/>
          <a:p>
            <a:pPr algn="l"/>
            <a:r>
              <a:rPr sz="2500" b="1" i="0">
                <a:solidFill>
                  <a:srgbClr val="FFFFFF"/>
                </a:solidFill>
                <a:latin typeface="Arial"/>
              </a:rPr>
              <a:t>What is heavy and small enough to orbit at 75 Hz?</a:t>
            </a:r>
            <a:endParaRPr sz="2500"/>
          </a:p>
        </p:txBody>
      </p:sp>
      <p:sp>
        <p:nvSpPr>
          <p:cNvPr id="3" name="Rectangle 2"/>
          <p:cNvSpPr/>
          <p:nvPr/>
        </p:nvSpPr>
        <p:spPr>
          <a:xfrm>
            <a:off x="0" y="786384"/>
            <a:ext cx="3483428" cy="41148"/>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2t-pagenum"/>
          <p:cNvSpPr txBox="1"/>
          <p:nvPr/>
        </p:nvSpPr>
        <p:spPr>
          <a:xfrm>
            <a:off x="11140440" y="6446520"/>
            <a:ext cx="731520" cy="274320"/>
          </a:xfrm>
          <a:prstGeom prst="rect">
            <a:avLst/>
          </a:prstGeom>
          <a:noFill/>
        </p:spPr>
        <p:txBody>
          <a:bodyPr wrap="square" anchor="t">
            <a:spAutoFit/>
          </a:bodyPr>
          <a:lstStyle/>
          <a:p>
            <a:pPr algn="r">
              <a:lnSpc>
                <a:spcPct val="115000"/>
              </a:lnSpc>
            </a:pPr>
            <a:r>
              <a:rPr sz="1700" b="0" i="0">
                <a:solidFill>
                  <a:srgbClr val="666666"/>
                </a:solidFill>
                <a:latin typeface="Arial"/>
              </a:rPr>
              <a:t>4/14</a:t>
            </a:r>
            <a:endParaRPr sz="1700"/>
          </a:p>
        </p:txBody>
      </p:sp>
      <p:sp>
        <p:nvSpPr>
          <p:cNvPr id="5" name="TextBox 4"/>
          <p:cNvSpPr txBox="1"/>
          <p:nvPr/>
        </p:nvSpPr>
        <p:spPr>
          <a:xfrm>
            <a:off x="502920" y="969264"/>
            <a:ext cx="11186160" cy="1197864"/>
          </a:xfrm>
          <a:prstGeom prst="rect">
            <a:avLst/>
          </a:prstGeom>
          <a:noFill/>
        </p:spPr>
        <p:txBody>
          <a:bodyPr wrap="square" anchor="t">
            <a:spAutoFit/>
          </a:bodyPr>
          <a:lstStyle/>
          <a:p>
            <a:pPr algn="ctr">
              <a:lnSpc>
                <a:spcPct val="115000"/>
              </a:lnSpc>
            </a:pPr>
            <a:r>
              <a:rPr sz="3000" b="0" i="0">
                <a:solidFill>
                  <a:srgbClr val="23373B"/>
                </a:solidFill>
                <a:latin typeface="Arial"/>
              </a:rPr>
              <a:t>M = ((m</a:t>
            </a:r>
            <a:r>
              <a:rPr sz="3000" b="0" i="0" baseline="-25000">
                <a:solidFill>
                  <a:srgbClr val="23373B"/>
                </a:solidFill>
                <a:latin typeface="Arial"/>
              </a:rPr>
              <a:t>1</a:t>
            </a:r>
            <a:r>
              <a:rPr sz="3000" b="0" i="0">
                <a:solidFill>
                  <a:srgbClr val="23373B"/>
                </a:solidFill>
                <a:latin typeface="Arial"/>
              </a:rPr>
              <a:t> m</a:t>
            </a:r>
            <a:r>
              <a:rPr sz="3000" b="0" i="0" baseline="-25000">
                <a:solidFill>
                  <a:srgbClr val="23373B"/>
                </a:solidFill>
                <a:latin typeface="Arial"/>
              </a:rPr>
              <a:t>2</a:t>
            </a:r>
            <a:r>
              <a:rPr sz="3000" b="0" i="0">
                <a:solidFill>
                  <a:srgbClr val="23373B"/>
                </a:solidFill>
                <a:latin typeface="Arial"/>
              </a:rPr>
              <a:t>)</a:t>
            </a:r>
            <a:r>
              <a:rPr sz="3000" b="0" i="0" baseline="30000">
                <a:solidFill>
                  <a:srgbClr val="23373B"/>
                </a:solidFill>
                <a:latin typeface="Arial"/>
              </a:rPr>
              <a:t>3/5</a:t>
            </a:r>
            <a:r>
              <a:rPr sz="3000" b="0" i="0">
                <a:solidFill>
                  <a:srgbClr val="23373B"/>
                </a:solidFill>
                <a:latin typeface="Arial"/>
              </a:rPr>
              <a:t>)/((m</a:t>
            </a:r>
            <a:r>
              <a:rPr sz="3000" b="0" i="0" baseline="-25000">
                <a:solidFill>
                  <a:srgbClr val="23373B"/>
                </a:solidFill>
                <a:latin typeface="Arial"/>
              </a:rPr>
              <a:t>1</a:t>
            </a:r>
            <a:r>
              <a:rPr sz="3000" b="0" i="0">
                <a:solidFill>
                  <a:srgbClr val="23373B"/>
                </a:solidFill>
                <a:latin typeface="Arial"/>
              </a:rPr>
              <a:t>+m</a:t>
            </a:r>
            <a:r>
              <a:rPr sz="3000" b="0" i="0" baseline="-25000">
                <a:solidFill>
                  <a:srgbClr val="23373B"/>
                </a:solidFill>
                <a:latin typeface="Arial"/>
              </a:rPr>
              <a:t>2</a:t>
            </a:r>
            <a:r>
              <a:rPr sz="3000" b="0" i="0">
                <a:solidFill>
                  <a:srgbClr val="23373B"/>
                </a:solidFill>
                <a:latin typeface="Arial"/>
              </a:rPr>
              <a:t>)</a:t>
            </a:r>
            <a:r>
              <a:rPr sz="3000" b="0" i="0" baseline="30000">
                <a:solidFill>
                  <a:srgbClr val="23373B"/>
                </a:solidFill>
                <a:latin typeface="Arial"/>
              </a:rPr>
              <a:t>1/5</a:t>
            </a:r>
            <a:r>
              <a:rPr sz="3000" b="0" i="0">
                <a:solidFill>
                  <a:srgbClr val="23373B"/>
                </a:solidFill>
                <a:latin typeface="Arial"/>
              </a:rPr>
              <a:t>) = c</a:t>
            </a:r>
            <a:r>
              <a:rPr sz="3000" b="0" i="0" baseline="30000">
                <a:solidFill>
                  <a:srgbClr val="23373B"/>
                </a:solidFill>
                <a:latin typeface="Arial"/>
              </a:rPr>
              <a:t>3</a:t>
            </a:r>
            <a:r>
              <a:rPr sz="3000" b="0" i="0">
                <a:solidFill>
                  <a:srgbClr val="23373B"/>
                </a:solidFill>
                <a:latin typeface="Arial"/>
              </a:rPr>
              <a:t>/G[5/(96)π</a:t>
            </a:r>
            <a:r>
              <a:rPr sz="3000" b="0" i="0" baseline="30000">
                <a:solidFill>
                  <a:srgbClr val="23373B"/>
                </a:solidFill>
                <a:latin typeface="Arial"/>
              </a:rPr>
              <a:t>−8/3</a:t>
            </a:r>
            <a:r>
              <a:rPr sz="3000" b="0" i="0">
                <a:solidFill>
                  <a:srgbClr val="23373B"/>
                </a:solidFill>
                <a:latin typeface="Arial"/>
              </a:rPr>
              <a:t> f</a:t>
            </a:r>
            <a:r>
              <a:rPr sz="3000" b="0" i="0" baseline="30000">
                <a:solidFill>
                  <a:srgbClr val="23373B"/>
                </a:solidFill>
                <a:latin typeface="Arial"/>
              </a:rPr>
              <a:t>−11/3</a:t>
            </a:r>
            <a:r>
              <a:rPr sz="3000" b="0" i="0">
                <a:solidFill>
                  <a:srgbClr val="23373B"/>
                </a:solidFill>
                <a:latin typeface="Arial"/>
              </a:rPr>
              <a:t>ḟ]</a:t>
            </a:r>
            <a:r>
              <a:rPr sz="3000" b="0" i="0" baseline="30000">
                <a:solidFill>
                  <a:srgbClr val="23373B"/>
                </a:solidFill>
                <a:latin typeface="Arial"/>
              </a:rPr>
              <a:t>3/5</a:t>
            </a:r>
            <a:endParaRPr sz="3000"/>
          </a:p>
        </p:txBody>
      </p:sp>
      <p:sp>
        <p:nvSpPr>
          <p:cNvPr id="6" name="TextBox 5"/>
          <p:cNvSpPr txBox="1"/>
          <p:nvPr/>
        </p:nvSpPr>
        <p:spPr>
          <a:xfrm>
            <a:off x="502920" y="2697099"/>
            <a:ext cx="11186160" cy="2539746"/>
          </a:xfrm>
          <a:prstGeom prst="rect">
            <a:avLst/>
          </a:prstGeom>
          <a:noFill/>
        </p:spPr>
        <p:txBody>
          <a:bodyPr wrap="square" anchor="t">
            <a:spAutoFit/>
          </a:bodyPr>
          <a:lstStyle/>
          <a:p>
            <a:pPr algn="l">
              <a:lnSpc>
                <a:spcPct val="145000"/>
              </a:lnSpc>
            </a:pPr>
            <a:r>
              <a:rPr sz="2100" b="0" i="0">
                <a:solidFill>
                  <a:srgbClr val="23373B"/>
                </a:solidFill>
                <a:latin typeface="Arial"/>
              </a:rPr>
              <a:t>    1. From the frequency and its rise: chirp mass M ≃ 30 M⊙.</a:t>
            </a:r>
            <a:endParaRPr sz="2100"/>
          </a:p>
          <a:p>
            <a:pPr algn="l">
              <a:lnSpc>
                <a:spcPct val="145000"/>
              </a:lnSpc>
            </a:pPr>
            <a:r>
              <a:rPr sz="2100" b="0" i="0">
                <a:solidFill>
                  <a:srgbClr val="23373B"/>
                </a:solidFill>
                <a:latin typeface="Arial"/>
              </a:rPr>
              <a:t>    2. So the total mass is ≳ 70 M⊙, and the two Schwarzschild radii add up to ≳ 210 km.</a:t>
            </a:r>
            <a:endParaRPr sz="2100"/>
          </a:p>
          <a:p>
            <a:pPr algn="l">
              <a:lnSpc>
                <a:spcPct val="145000"/>
              </a:lnSpc>
            </a:pPr>
            <a:r>
              <a:rPr sz="2100" b="0" i="0">
                <a:solidFill>
                  <a:srgbClr val="23373B"/>
                </a:solidFill>
                <a:latin typeface="Arial"/>
              </a:rPr>
              <a:t>    3. Equal point masses orbiting at 75 Hz would be only ≃ 350 km apart.</a:t>
            </a:r>
            <a:endParaRPr sz="2100"/>
          </a:p>
          <a:p>
            <a:pPr algn="l">
              <a:lnSpc>
                <a:spcPct val="145000"/>
              </a:lnSpc>
            </a:pPr>
            <a:r>
              <a:rPr sz="2100" b="0" i="0">
                <a:solidFill>
                  <a:srgbClr val="23373B"/>
                </a:solidFill>
                <a:latin typeface="Arial"/>
              </a:rPr>
              <a:t>    4. Neutron stars are too light; a black hole with a neutron star would merge at a much lower frequency.</a:t>
            </a:r>
            <a:endParaRPr sz="2100"/>
          </a:p>
        </p:txBody>
      </p:sp>
      <p:sp>
        <p:nvSpPr>
          <p:cNvPr id="7" name="TextBox 6"/>
          <p:cNvSpPr txBox="1"/>
          <p:nvPr/>
        </p:nvSpPr>
        <p:spPr>
          <a:xfrm>
            <a:off x="502920" y="5675376"/>
            <a:ext cx="11186160" cy="615696"/>
          </a:xfrm>
          <a:prstGeom prst="rect">
            <a:avLst/>
          </a:prstGeom>
          <a:noFill/>
        </p:spPr>
        <p:txBody>
          <a:bodyPr wrap="square" anchor="t">
            <a:spAutoFit/>
          </a:bodyPr>
          <a:lstStyle/>
          <a:p>
            <a:pPr algn="l">
              <a:lnSpc>
                <a:spcPct val="115000"/>
              </a:lnSpc>
            </a:pPr>
            <a:r>
              <a:rPr sz="1600" b="0" i="0">
                <a:solidFill>
                  <a:srgbClr val="666666"/>
                </a:solidFill>
                <a:latin typeface="Arial"/>
              </a:rPr>
              <a:t>f, ḟ: observed frequency and its time derivative. Masses in the detector frame. Schwarzschild radius R</a:t>
            </a:r>
            <a:r>
              <a:rPr sz="1600" b="0" i="0" baseline="-25000">
                <a:solidFill>
                  <a:srgbClr val="666666"/>
                </a:solidFill>
                <a:latin typeface="Arial"/>
              </a:rPr>
              <a:t>S</a:t>
            </a:r>
            <a:r>
              <a:rPr sz="1600" b="0" i="0">
                <a:solidFill>
                  <a:srgbClr val="666666"/>
                </a:solidFill>
                <a:latin typeface="Arial"/>
              </a:rPr>
              <a:t> = 2GM/c</a:t>
            </a:r>
            <a:r>
              <a:rPr sz="1600" b="0" i="0" baseline="30000">
                <a:solidFill>
                  <a:srgbClr val="666666"/>
                </a:solidFill>
                <a:latin typeface="Arial"/>
              </a:rPr>
              <a:t>2</a:t>
            </a:r>
            <a:r>
              <a:rPr sz="1600" b="0" i="0">
                <a:solidFill>
                  <a:srgbClr val="666666"/>
                </a:solidFill>
                <a:latin typeface="Arial"/>
              </a:rPr>
              <a:t>. The orbit runs at half the gravitational-wave frequency of 150 Hz.</a:t>
            </a:r>
            <a:endParaRPr sz="160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771269"/>
            <a:ext cx="11186160" cy="531114"/>
          </a:xfrm>
          <a:prstGeom prst="rect">
            <a:avLst/>
          </a:prstGeom>
          <a:noFill/>
        </p:spPr>
        <p:txBody>
          <a:bodyPr wrap="square" anchor="t">
            <a:spAutoFit/>
          </a:bodyPr>
          <a:lstStyle/>
          <a:p>
            <a:pPr algn="ctr">
              <a:lnSpc>
                <a:spcPct val="115000"/>
              </a:lnSpc>
            </a:pPr>
            <a:r>
              <a:rPr sz="2500" b="0" i="0">
                <a:solidFill>
                  <a:srgbClr val="FFFFFF"/>
                </a:solidFill>
                <a:latin typeface="Arial"/>
              </a:rPr>
              <a:t>What is left?</a:t>
            </a:r>
            <a:endParaRPr sz="2500"/>
          </a:p>
        </p:txBody>
      </p:sp>
      <p:sp>
        <p:nvSpPr>
          <p:cNvPr id="4" name="TextBox 3"/>
          <p:cNvSpPr txBox="1"/>
          <p:nvPr/>
        </p:nvSpPr>
        <p:spPr>
          <a:xfrm>
            <a:off x="502920" y="2530982"/>
            <a:ext cx="11186160" cy="378714"/>
          </a:xfrm>
          <a:prstGeom prst="rect">
            <a:avLst/>
          </a:prstGeom>
          <a:noFill/>
        </p:spPr>
        <p:txBody>
          <a:bodyPr wrap="square" anchor="t">
            <a:spAutoFit/>
          </a:bodyPr>
          <a:lstStyle/>
          <a:p>
            <a:pPr algn="ctr">
              <a:lnSpc>
                <a:spcPct val="115000"/>
              </a:lnSpc>
            </a:pPr>
            <a:r>
              <a:rPr sz="1700" b="1" i="0">
                <a:solidFill>
                  <a:srgbClr val="FFFFFF"/>
                </a:solidFill>
                <a:latin typeface="Arial"/>
              </a:rPr>
              <a:t>at least 70 solar masses</a:t>
            </a:r>
            <a:endParaRPr sz="1700"/>
          </a:p>
        </p:txBody>
      </p:sp>
      <p:sp>
        <p:nvSpPr>
          <p:cNvPr id="5" name="TextBox 4"/>
          <p:cNvSpPr txBox="1"/>
          <p:nvPr/>
        </p:nvSpPr>
        <p:spPr>
          <a:xfrm>
            <a:off x="502920" y="2964560"/>
            <a:ext cx="11186160" cy="476250"/>
          </a:xfrm>
          <a:prstGeom prst="rect">
            <a:avLst/>
          </a:prstGeom>
          <a:noFill/>
        </p:spPr>
        <p:txBody>
          <a:bodyPr wrap="square" anchor="t">
            <a:spAutoFit/>
          </a:bodyPr>
          <a:lstStyle/>
          <a:p>
            <a:pPr algn="ctr">
              <a:lnSpc>
                <a:spcPct val="115000"/>
              </a:lnSpc>
            </a:pPr>
            <a:r>
              <a:rPr sz="3000" b="0" i="0">
                <a:solidFill>
                  <a:srgbClr val="FFFFFF"/>
                </a:solidFill>
                <a:latin typeface="Arial"/>
              </a:rPr>
              <a:t>⇓</a:t>
            </a:r>
            <a:endParaRPr sz="3000"/>
          </a:p>
        </p:txBody>
      </p:sp>
      <p:sp>
        <p:nvSpPr>
          <p:cNvPr id="6" name="TextBox 5"/>
          <p:cNvSpPr txBox="1"/>
          <p:nvPr/>
        </p:nvSpPr>
        <p:spPr>
          <a:xfrm>
            <a:off x="502920" y="3495674"/>
            <a:ext cx="11186160" cy="378714"/>
          </a:xfrm>
          <a:prstGeom prst="rect">
            <a:avLst/>
          </a:prstGeom>
          <a:noFill/>
        </p:spPr>
        <p:txBody>
          <a:bodyPr wrap="square" anchor="t">
            <a:spAutoFit/>
          </a:bodyPr>
          <a:lstStyle/>
          <a:p>
            <a:pPr algn="ctr">
              <a:lnSpc>
                <a:spcPct val="115000"/>
              </a:lnSpc>
            </a:pPr>
            <a:r>
              <a:rPr sz="1700" b="1" i="0">
                <a:solidFill>
                  <a:srgbClr val="FFFFFF"/>
                </a:solidFill>
                <a:latin typeface="Arial"/>
              </a:rPr>
              <a:t>orbiting at 75 Hz, only about 350 km apart</a:t>
            </a:r>
            <a:endParaRPr sz="1700"/>
          </a:p>
        </p:txBody>
      </p:sp>
      <p:sp>
        <p:nvSpPr>
          <p:cNvPr id="7" name="TextBox 6"/>
          <p:cNvSpPr txBox="1"/>
          <p:nvPr/>
        </p:nvSpPr>
        <p:spPr>
          <a:xfrm>
            <a:off x="502920" y="3929253"/>
            <a:ext cx="11186160" cy="476250"/>
          </a:xfrm>
          <a:prstGeom prst="rect">
            <a:avLst/>
          </a:prstGeom>
          <a:noFill/>
        </p:spPr>
        <p:txBody>
          <a:bodyPr wrap="square" anchor="t">
            <a:spAutoFit/>
          </a:bodyPr>
          <a:lstStyle/>
          <a:p>
            <a:pPr algn="ctr">
              <a:lnSpc>
                <a:spcPct val="115000"/>
              </a:lnSpc>
            </a:pPr>
            <a:r>
              <a:rPr sz="3000" b="0" i="0">
                <a:solidFill>
                  <a:srgbClr val="FFFFFF"/>
                </a:solidFill>
                <a:latin typeface="Arial"/>
              </a:rPr>
              <a:t>⇓</a:t>
            </a:r>
            <a:endParaRPr sz="3000"/>
          </a:p>
        </p:txBody>
      </p:sp>
      <p:sp>
        <p:nvSpPr>
          <p:cNvPr id="8" name="TextBox 7"/>
          <p:cNvSpPr txBox="1"/>
          <p:nvPr/>
        </p:nvSpPr>
        <p:spPr>
          <a:xfrm>
            <a:off x="502920" y="4460367"/>
            <a:ext cx="11186160" cy="626364"/>
          </a:xfrm>
          <a:prstGeom prst="rect">
            <a:avLst/>
          </a:prstGeom>
          <a:noFill/>
        </p:spPr>
        <p:txBody>
          <a:bodyPr wrap="square" anchor="t">
            <a:spAutoFit/>
          </a:bodyPr>
          <a:lstStyle/>
          <a:p>
            <a:pPr algn="ctr">
              <a:lnSpc>
                <a:spcPct val="115000"/>
              </a:lnSpc>
            </a:pPr>
            <a:r>
              <a:rPr sz="3000" b="1" i="0">
                <a:solidFill>
                  <a:srgbClr val="7DD9A0"/>
                </a:solidFill>
                <a:latin typeface="Arial"/>
              </a:rPr>
              <a:t>only black holes are that compact</a:t>
            </a:r>
            <a:endParaRPr sz="30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86384"/>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tIns="109728"/>
          <a:lstStyle/>
          <a:p>
            <a:pPr algn="l"/>
            <a:r>
              <a:rPr sz="2500" b="1" i="0">
                <a:solidFill>
                  <a:srgbClr val="FFFFFF"/>
                </a:solidFill>
                <a:latin typeface="Arial"/>
              </a:rPr>
              <a:t>Inspiral, merger, ringdown: the wave general relativity predicts</a:t>
            </a:r>
            <a:endParaRPr sz="2500"/>
          </a:p>
        </p:txBody>
      </p:sp>
      <p:sp>
        <p:nvSpPr>
          <p:cNvPr id="3" name="Rectangle 2"/>
          <p:cNvSpPr/>
          <p:nvPr/>
        </p:nvSpPr>
        <p:spPr>
          <a:xfrm>
            <a:off x="0" y="786384"/>
            <a:ext cx="4354285" cy="41148"/>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2t-pagenum"/>
          <p:cNvSpPr txBox="1"/>
          <p:nvPr/>
        </p:nvSpPr>
        <p:spPr>
          <a:xfrm>
            <a:off x="11140440" y="6446520"/>
            <a:ext cx="731520" cy="274320"/>
          </a:xfrm>
          <a:prstGeom prst="rect">
            <a:avLst/>
          </a:prstGeom>
          <a:noFill/>
        </p:spPr>
        <p:txBody>
          <a:bodyPr wrap="square" anchor="t">
            <a:spAutoFit/>
          </a:bodyPr>
          <a:lstStyle/>
          <a:p>
            <a:pPr algn="r">
              <a:lnSpc>
                <a:spcPct val="115000"/>
              </a:lnSpc>
            </a:pPr>
            <a:r>
              <a:rPr sz="1700" b="0" i="0">
                <a:solidFill>
                  <a:srgbClr val="666666"/>
                </a:solidFill>
                <a:latin typeface="Arial"/>
              </a:rPr>
              <a:t>5/14</a:t>
            </a:r>
            <a:endParaRPr sz="1700"/>
          </a:p>
        </p:txBody>
      </p:sp>
      <p:pic>
        <p:nvPicPr>
          <p:cNvPr id="5" name="Picture 4" descr="fig_2__crop_000_000_1000_660.png"/>
          <p:cNvPicPr>
            <a:picLocks noChangeAspect="1"/>
          </p:cNvPicPr>
          <p:nvPr/>
        </p:nvPicPr>
        <p:blipFill>
          <a:blip r:embed="rId2"/>
          <a:stretch>
            <a:fillRect/>
          </a:stretch>
        </p:blipFill>
        <p:spPr>
          <a:xfrm>
            <a:off x="3839143" y="932688"/>
            <a:ext cx="4513712" cy="2978658"/>
          </a:xfrm>
          <a:prstGeom prst="rect">
            <a:avLst/>
          </a:prstGeom>
        </p:spPr>
      </p:pic>
      <p:sp>
        <p:nvSpPr>
          <p:cNvPr id="6" name="p2t-highlight"/>
          <p:cNvSpPr/>
          <p:nvPr/>
        </p:nvSpPr>
        <p:spPr>
          <a:xfrm>
            <a:off x="7585524" y="2481590"/>
            <a:ext cx="361096" cy="1072316"/>
          </a:xfrm>
          <a:prstGeom prst="rect">
            <a:avLst/>
          </a:prstGeom>
          <a:noFill/>
          <a:ln w="25400">
            <a:solidFill>
              <a:srgbClr val="A257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2t-highlight"/>
          <p:cNvSpPr txBox="1"/>
          <p:nvPr/>
        </p:nvSpPr>
        <p:spPr>
          <a:xfrm>
            <a:off x="6815051" y="3572195"/>
            <a:ext cx="1131570" cy="256032"/>
          </a:xfrm>
          <a:prstGeom prst="rect">
            <a:avLst/>
          </a:prstGeom>
          <a:noFill/>
        </p:spPr>
        <p:txBody>
          <a:bodyPr wrap="none" anchor="t">
            <a:spAutoFit/>
          </a:bodyPr>
          <a:lstStyle/>
          <a:p>
            <a:pPr algn="r">
              <a:lnSpc>
                <a:spcPct val="115000"/>
              </a:lnSpc>
            </a:pPr>
            <a:r>
              <a:rPr sz="1500" b="1" i="0">
                <a:solidFill>
                  <a:srgbClr val="A2570E"/>
                </a:solidFill>
                <a:latin typeface="Arial"/>
              </a:rPr>
              <a:t>ringdown</a:t>
            </a:r>
            <a:endParaRPr sz="1500"/>
          </a:p>
        </p:txBody>
      </p:sp>
      <p:sp>
        <p:nvSpPr>
          <p:cNvPr id="8" name="TextBox 7"/>
          <p:cNvSpPr txBox="1"/>
          <p:nvPr/>
        </p:nvSpPr>
        <p:spPr>
          <a:xfrm>
            <a:off x="502920" y="4002785"/>
            <a:ext cx="11186160" cy="457200"/>
          </a:xfrm>
          <a:prstGeom prst="rect">
            <a:avLst/>
          </a:prstGeom>
          <a:noFill/>
        </p:spPr>
        <p:txBody>
          <a:bodyPr wrap="square" anchor="t">
            <a:spAutoFit/>
          </a:bodyPr>
          <a:lstStyle/>
          <a:p>
            <a:pPr algn="ctr">
              <a:lnSpc>
                <a:spcPct val="115000"/>
              </a:lnSpc>
            </a:pPr>
            <a:r>
              <a:rPr sz="1700" b="0" i="0">
                <a:solidFill>
                  <a:srgbClr val="666666"/>
                </a:solidFill>
                <a:latin typeface="Arial"/>
              </a:rPr>
              <a:t>Paper Fig. 2, top: strain in H1 without filtering, with numerical-relativity black hole horizons above.</a:t>
            </a:r>
            <a:endParaRPr sz="1700"/>
          </a:p>
        </p:txBody>
      </p:sp>
      <p:sp>
        <p:nvSpPr>
          <p:cNvPr id="9" name="TextBox 8"/>
          <p:cNvSpPr txBox="1"/>
          <p:nvPr/>
        </p:nvSpPr>
        <p:spPr>
          <a:xfrm>
            <a:off x="502920" y="4578857"/>
            <a:ext cx="11186160" cy="982980"/>
          </a:xfrm>
          <a:prstGeom prst="rect">
            <a:avLst/>
          </a:prstGeom>
          <a:noFill/>
        </p:spPr>
        <p:txBody>
          <a:bodyPr wrap="square" anchor="t">
            <a:spAutoFit/>
          </a:bodyPr>
          <a:lstStyle/>
          <a:p>
            <a:pPr algn="l" marL="165354" indent="-165354">
              <a:lnSpc>
                <a:spcPct val="145000"/>
              </a:lnSpc>
            </a:pPr>
            <a:r>
              <a:rPr sz="2100" b="0" i="0">
                <a:solidFill>
                  <a:srgbClr val="23373B"/>
                </a:solidFill>
                <a:latin typeface="Arial"/>
              </a:rPr>
              <a:t>• After the peak the wave dies away like </a:t>
            </a:r>
            <a:r>
              <a:rPr sz="2100" b="1" i="0">
                <a:solidFill>
                  <a:srgbClr val="23373B"/>
                </a:solidFill>
                <a:latin typeface="Arial"/>
              </a:rPr>
              <a:t>a single black hole settling down</a:t>
            </a:r>
            <a:r>
              <a:rPr sz="2100" b="0" i="0">
                <a:solidFill>
                  <a:srgbClr val="23373B"/>
                </a:solidFill>
                <a:latin typeface="Arial"/>
              </a:rPr>
              <a:t>, as a Kerr black hole should.</a:t>
            </a:r>
            <a:endParaRPr sz="2100"/>
          </a:p>
        </p:txBody>
      </p:sp>
      <p:sp>
        <p:nvSpPr>
          <p:cNvPr id="10" name="TextBox 9"/>
          <p:cNvSpPr txBox="1"/>
          <p:nvPr/>
        </p:nvSpPr>
        <p:spPr>
          <a:xfrm>
            <a:off x="502920" y="5675376"/>
            <a:ext cx="11186160" cy="615696"/>
          </a:xfrm>
          <a:prstGeom prst="rect">
            <a:avLst/>
          </a:prstGeom>
          <a:noFill/>
        </p:spPr>
        <p:txBody>
          <a:bodyPr wrap="square" anchor="t">
            <a:spAutoFit/>
          </a:bodyPr>
          <a:lstStyle/>
          <a:p>
            <a:pPr algn="l">
              <a:lnSpc>
                <a:spcPct val="115000"/>
              </a:lnSpc>
            </a:pPr>
            <a:r>
              <a:rPr sz="1600" b="0" i="0">
                <a:solidFill>
                  <a:srgbClr val="666666"/>
                </a:solidFill>
                <a:latin typeface="Arial"/>
              </a:rPr>
              <a:t>Red: numerical relativity, confirmed to 99.9% by an independent calculation. Grey: reconstruction with black hole templates; in the paper's Fig. 1 it overlaps a model-free wavelet reconstruction by 94%.</a:t>
            </a:r>
            <a:endParaRPr sz="16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86384"/>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tIns="109728"/>
          <a:lstStyle/>
          <a:p>
            <a:pPr algn="l"/>
            <a:r>
              <a:rPr sz="2500" b="1" i="0">
                <a:solidFill>
                  <a:srgbClr val="FFFFFF"/>
                </a:solidFill>
                <a:latin typeface="Arial"/>
              </a:rPr>
              <a:t>The detector is a 4 km ruler for changes in length</a:t>
            </a:r>
            <a:endParaRPr sz="2500"/>
          </a:p>
        </p:txBody>
      </p:sp>
      <p:sp>
        <p:nvSpPr>
          <p:cNvPr id="3" name="Rectangle 2"/>
          <p:cNvSpPr/>
          <p:nvPr/>
        </p:nvSpPr>
        <p:spPr>
          <a:xfrm>
            <a:off x="0" y="786384"/>
            <a:ext cx="5225142" cy="41148"/>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2t-pagenum"/>
          <p:cNvSpPr txBox="1"/>
          <p:nvPr/>
        </p:nvSpPr>
        <p:spPr>
          <a:xfrm>
            <a:off x="11140440" y="6446520"/>
            <a:ext cx="731520" cy="274320"/>
          </a:xfrm>
          <a:prstGeom prst="rect">
            <a:avLst/>
          </a:prstGeom>
          <a:noFill/>
        </p:spPr>
        <p:txBody>
          <a:bodyPr wrap="square" anchor="t">
            <a:spAutoFit/>
          </a:bodyPr>
          <a:lstStyle/>
          <a:p>
            <a:pPr algn="r">
              <a:lnSpc>
                <a:spcPct val="115000"/>
              </a:lnSpc>
            </a:pPr>
            <a:r>
              <a:rPr sz="1700" b="0" i="0">
                <a:solidFill>
                  <a:srgbClr val="666666"/>
                </a:solidFill>
                <a:latin typeface="Arial"/>
              </a:rPr>
              <a:t>6/14</a:t>
            </a:r>
            <a:endParaRPr sz="1700"/>
          </a:p>
        </p:txBody>
      </p:sp>
      <p:pic>
        <p:nvPicPr>
          <p:cNvPr id="5" name="Picture 4" descr="fig_3.png"/>
          <p:cNvPicPr>
            <a:picLocks noChangeAspect="1"/>
          </p:cNvPicPr>
          <p:nvPr/>
        </p:nvPicPr>
        <p:blipFill>
          <a:blip r:embed="rId2"/>
          <a:stretch>
            <a:fillRect/>
          </a:stretch>
        </p:blipFill>
        <p:spPr>
          <a:xfrm>
            <a:off x="502920" y="932688"/>
            <a:ext cx="6611112" cy="4384707"/>
          </a:xfrm>
          <a:prstGeom prst="rect">
            <a:avLst/>
          </a:prstGeom>
        </p:spPr>
      </p:pic>
      <p:sp>
        <p:nvSpPr>
          <p:cNvPr id="6" name="p2t-highlight"/>
          <p:cNvSpPr/>
          <p:nvPr/>
        </p:nvSpPr>
        <p:spPr>
          <a:xfrm>
            <a:off x="5196809" y="1151923"/>
            <a:ext cx="661111" cy="2236200"/>
          </a:xfrm>
          <a:prstGeom prst="rect">
            <a:avLst/>
          </a:prstGeom>
          <a:noFill/>
          <a:ln w="25400">
            <a:solidFill>
              <a:srgbClr val="A257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2t-highlight"/>
          <p:cNvSpPr txBox="1"/>
          <p:nvPr/>
        </p:nvSpPr>
        <p:spPr>
          <a:xfrm>
            <a:off x="4594905" y="1170211"/>
            <a:ext cx="1263015" cy="256032"/>
          </a:xfrm>
          <a:prstGeom prst="rect">
            <a:avLst/>
          </a:prstGeom>
          <a:noFill/>
        </p:spPr>
        <p:txBody>
          <a:bodyPr wrap="none" anchor="t">
            <a:spAutoFit/>
          </a:bodyPr>
          <a:lstStyle/>
          <a:p>
            <a:pPr algn="r">
              <a:lnSpc>
                <a:spcPct val="115000"/>
              </a:lnSpc>
            </a:pPr>
            <a:r>
              <a:rPr sz="1500" b="1" i="0">
                <a:solidFill>
                  <a:srgbClr val="A2570E"/>
                </a:solidFill>
                <a:latin typeface="Arial"/>
              </a:rPr>
              <a:t>100-300 Hz</a:t>
            </a:r>
            <a:endParaRPr sz="1500"/>
          </a:p>
        </p:txBody>
      </p:sp>
      <p:sp>
        <p:nvSpPr>
          <p:cNvPr id="8" name="TextBox 7"/>
          <p:cNvSpPr txBox="1"/>
          <p:nvPr/>
        </p:nvSpPr>
        <p:spPr>
          <a:xfrm>
            <a:off x="502920" y="5372259"/>
            <a:ext cx="6611112" cy="702564"/>
          </a:xfrm>
          <a:prstGeom prst="rect">
            <a:avLst/>
          </a:prstGeom>
          <a:noFill/>
        </p:spPr>
        <p:txBody>
          <a:bodyPr wrap="square" anchor="t">
            <a:spAutoFit/>
          </a:bodyPr>
          <a:lstStyle/>
          <a:p>
            <a:pPr algn="ctr">
              <a:lnSpc>
                <a:spcPct val="115000"/>
              </a:lnSpc>
            </a:pPr>
            <a:r>
              <a:rPr sz="1700" b="0" i="0">
                <a:solidFill>
                  <a:srgbClr val="666666"/>
                </a:solidFill>
                <a:latin typeface="Arial"/>
              </a:rPr>
              <a:t>Paper Fig. 3: Advanced LIGO (not to scale); inset (b) is the noise of each detector.</a:t>
            </a:r>
            <a:endParaRPr sz="1700"/>
          </a:p>
        </p:txBody>
      </p:sp>
      <p:sp>
        <p:nvSpPr>
          <p:cNvPr id="9" name="TextBox 8"/>
          <p:cNvSpPr txBox="1"/>
          <p:nvPr/>
        </p:nvSpPr>
        <p:spPr>
          <a:xfrm>
            <a:off x="7315200" y="1024128"/>
            <a:ext cx="4373880" cy="676656"/>
          </a:xfrm>
          <a:prstGeom prst="rect">
            <a:avLst/>
          </a:prstGeom>
          <a:noFill/>
        </p:spPr>
        <p:txBody>
          <a:bodyPr wrap="square" anchor="t">
            <a:spAutoFit/>
          </a:bodyPr>
          <a:lstStyle/>
          <a:p>
            <a:pPr algn="l">
              <a:lnSpc>
                <a:spcPct val="120000"/>
              </a:lnSpc>
            </a:pPr>
            <a:r>
              <a:rPr sz="1700" b="0" i="0">
                <a:solidFill>
                  <a:srgbClr val="666666"/>
                </a:solidFill>
                <a:latin typeface="Arial"/>
              </a:rPr>
              <a:t>A passing wave changes the arm difference by Δ L = h L, with L = 4 km.</a:t>
            </a:r>
            <a:endParaRPr sz="1700"/>
          </a:p>
        </p:txBody>
      </p:sp>
      <p:sp>
        <p:nvSpPr>
          <p:cNvPr id="10" name="TextBox 9"/>
          <p:cNvSpPr txBox="1"/>
          <p:nvPr/>
        </p:nvSpPr>
        <p:spPr>
          <a:xfrm>
            <a:off x="7315200" y="1810512"/>
            <a:ext cx="4373880" cy="2167128"/>
          </a:xfrm>
          <a:prstGeom prst="rect">
            <a:avLst/>
          </a:prstGeom>
          <a:noFill/>
        </p:spPr>
        <p:txBody>
          <a:bodyPr wrap="square" anchor="t">
            <a:spAutoFit/>
          </a:bodyPr>
          <a:lstStyle/>
          <a:p>
            <a:pPr algn="l" marL="157480" indent="-157480">
              <a:lnSpc>
                <a:spcPct val="135000"/>
              </a:lnSpc>
            </a:pPr>
            <a:r>
              <a:rPr sz="2000" b="0" i="0">
                <a:solidFill>
                  <a:srgbClr val="23373B"/>
                </a:solidFill>
                <a:latin typeface="Arial"/>
              </a:rPr>
              <a:t>• Arm cavities multiply the effect on the light phase </a:t>
            </a:r>
            <a:r>
              <a:rPr sz="2000" b="1" i="0">
                <a:solidFill>
                  <a:srgbClr val="23373B"/>
                </a:solidFill>
                <a:latin typeface="Arial"/>
              </a:rPr>
              <a:t>300</a:t>
            </a:r>
            <a:r>
              <a:rPr sz="2000" b="0" i="0">
                <a:solidFill>
                  <a:srgbClr val="23373B"/>
                </a:solidFill>
                <a:latin typeface="Arial"/>
              </a:rPr>
              <a:t> times.</a:t>
            </a:r>
            <a:endParaRPr sz="2000"/>
          </a:p>
          <a:p>
            <a:pPr algn="l" marL="157480" indent="-157480">
              <a:lnSpc>
                <a:spcPct val="135000"/>
              </a:lnSpc>
            </a:pPr>
            <a:r>
              <a:rPr sz="2000" b="0" i="0">
                <a:solidFill>
                  <a:srgbClr val="23373B"/>
                </a:solidFill>
                <a:latin typeface="Arial"/>
              </a:rPr>
              <a:t>• </a:t>
            </a:r>
            <a:r>
              <a:rPr sz="2000" b="1" i="0">
                <a:solidFill>
                  <a:srgbClr val="23373B"/>
                </a:solidFill>
                <a:latin typeface="Arial"/>
              </a:rPr>
              <a:t>20 W</a:t>
            </a:r>
            <a:r>
              <a:rPr sz="2000" b="0" i="0">
                <a:solidFill>
                  <a:srgbClr val="23373B"/>
                </a:solidFill>
                <a:latin typeface="Arial"/>
              </a:rPr>
              <a:t> of laser becomes </a:t>
            </a:r>
            <a:r>
              <a:rPr sz="2000" b="1" i="0">
                <a:solidFill>
                  <a:srgbClr val="23373B"/>
                </a:solidFill>
                <a:latin typeface="Arial"/>
              </a:rPr>
              <a:t>700 W</a:t>
            </a:r>
            <a:r>
              <a:rPr sz="2000" b="0" i="0">
                <a:solidFill>
                  <a:srgbClr val="23373B"/>
                </a:solidFill>
                <a:latin typeface="Arial"/>
              </a:rPr>
              <a:t> on the beam splitter and </a:t>
            </a:r>
            <a:r>
              <a:rPr sz="2000" b="1" i="0">
                <a:solidFill>
                  <a:srgbClr val="23373B"/>
                </a:solidFill>
                <a:latin typeface="Arial"/>
              </a:rPr>
              <a:t>100 kW</a:t>
            </a:r>
            <a:r>
              <a:rPr sz="2000" b="0" i="0">
                <a:solidFill>
                  <a:srgbClr val="23373B"/>
                </a:solidFill>
                <a:latin typeface="Arial"/>
              </a:rPr>
              <a:t> in each arm.</a:t>
            </a:r>
            <a:endParaRPr sz="2000"/>
          </a:p>
        </p:txBody>
      </p:sp>
      <p:sp>
        <p:nvSpPr>
          <p:cNvPr id="11" name="TextBox 10"/>
          <p:cNvSpPr txBox="1"/>
          <p:nvPr/>
        </p:nvSpPr>
        <p:spPr>
          <a:xfrm>
            <a:off x="7315200" y="4215383"/>
            <a:ext cx="4373880" cy="932687"/>
          </a:xfrm>
          <a:prstGeom prst="rect">
            <a:avLst/>
          </a:prstGeom>
          <a:noFill/>
        </p:spPr>
        <p:txBody>
          <a:bodyPr wrap="square" anchor="t">
            <a:spAutoFit/>
          </a:bodyPr>
          <a:lstStyle/>
          <a:p>
            <a:pPr algn="l">
              <a:lnSpc>
                <a:spcPct val="120000"/>
              </a:lnSpc>
            </a:pPr>
            <a:r>
              <a:rPr sz="1600" b="0" i="0">
                <a:solidFill>
                  <a:srgbClr val="666666"/>
                </a:solidFill>
                <a:latin typeface="Arial"/>
              </a:rPr>
              <a:t>Most sensitive band 100-300 Hz: 3 to 5 times better than initial LIGO there, more than ten times better below 60 Hz.</a:t>
            </a:r>
            <a:endParaRPr sz="16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86384"/>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tIns="109728"/>
          <a:lstStyle/>
          <a:p>
            <a:pPr algn="l"/>
            <a:r>
              <a:rPr sz="2500" b="1" i="0">
                <a:solidFill>
                  <a:srgbClr val="FFFFFF"/>
                </a:solidFill>
                <a:latin typeface="Arial"/>
              </a:rPr>
              <a:t>Could the instrument or the ground have made it?</a:t>
            </a:r>
            <a:endParaRPr sz="2500"/>
          </a:p>
        </p:txBody>
      </p:sp>
      <p:sp>
        <p:nvSpPr>
          <p:cNvPr id="3" name="Rectangle 2"/>
          <p:cNvSpPr/>
          <p:nvPr/>
        </p:nvSpPr>
        <p:spPr>
          <a:xfrm>
            <a:off x="0" y="786384"/>
            <a:ext cx="6096000" cy="41148"/>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2t-pagenum"/>
          <p:cNvSpPr txBox="1"/>
          <p:nvPr/>
        </p:nvSpPr>
        <p:spPr>
          <a:xfrm>
            <a:off x="11140440" y="6446520"/>
            <a:ext cx="731520" cy="274320"/>
          </a:xfrm>
          <a:prstGeom prst="rect">
            <a:avLst/>
          </a:prstGeom>
          <a:noFill/>
        </p:spPr>
        <p:txBody>
          <a:bodyPr wrap="square" anchor="t">
            <a:spAutoFit/>
          </a:bodyPr>
          <a:lstStyle/>
          <a:p>
            <a:pPr algn="r">
              <a:lnSpc>
                <a:spcPct val="115000"/>
              </a:lnSpc>
            </a:pPr>
            <a:r>
              <a:rPr sz="1700" b="0" i="0">
                <a:solidFill>
                  <a:srgbClr val="666666"/>
                </a:solidFill>
                <a:latin typeface="Arial"/>
              </a:rPr>
              <a:t>7/14</a:t>
            </a:r>
            <a:endParaRPr sz="1700"/>
          </a:p>
        </p:txBody>
      </p:sp>
      <p:pic>
        <p:nvPicPr>
          <p:cNvPr id="5" name="Picture 4" descr="diagram_09_self.png"/>
          <p:cNvPicPr>
            <a:picLocks noChangeAspect="1"/>
          </p:cNvPicPr>
          <p:nvPr/>
        </p:nvPicPr>
        <p:blipFill>
          <a:blip r:embed="rId2"/>
          <a:stretch>
            <a:fillRect/>
          </a:stretch>
        </p:blipFill>
        <p:spPr>
          <a:xfrm>
            <a:off x="502920" y="932688"/>
            <a:ext cx="11186160" cy="2192568"/>
          </a:xfrm>
          <a:prstGeom prst="rect">
            <a:avLst/>
          </a:prstGeom>
        </p:spPr>
      </p:pic>
      <p:sp>
        <p:nvSpPr>
          <p:cNvPr id="6" name="TextBox 5"/>
          <p:cNvSpPr txBox="1"/>
          <p:nvPr/>
        </p:nvSpPr>
        <p:spPr>
          <a:xfrm>
            <a:off x="502920" y="3289848"/>
            <a:ext cx="11186160" cy="982980"/>
          </a:xfrm>
          <a:prstGeom prst="rect">
            <a:avLst/>
          </a:prstGeom>
          <a:noFill/>
        </p:spPr>
        <p:txBody>
          <a:bodyPr wrap="square" anchor="t">
            <a:spAutoFit/>
          </a:bodyPr>
          <a:lstStyle/>
          <a:p>
            <a:pPr algn="l" marL="165354" indent="-165354">
              <a:lnSpc>
                <a:spcPct val="145000"/>
              </a:lnSpc>
            </a:pPr>
            <a:r>
              <a:rPr sz="2100" b="0" i="0">
                <a:solidFill>
                  <a:srgbClr val="23373B"/>
                </a:solidFill>
                <a:latin typeface="Arial"/>
              </a:rPr>
              <a:t>• Both detectors ran steadily for hours around the event, and </a:t>
            </a:r>
            <a:r>
              <a:rPr sz="2100" b="1" i="0">
                <a:solidFill>
                  <a:srgbClr val="23373B"/>
                </a:solidFill>
                <a:latin typeface="Arial"/>
              </a:rPr>
              <a:t>no correlated disturbance</a:t>
            </a:r>
            <a:r>
              <a:rPr sz="2100" b="0" i="0">
                <a:solidFill>
                  <a:srgbClr val="23373B"/>
                </a:solidFill>
                <a:latin typeface="Arial"/>
              </a:rPr>
              <a:t> between the sites was found.</a:t>
            </a:r>
            <a:endParaRPr sz="21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86384"/>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tIns="109728"/>
          <a:lstStyle/>
          <a:p>
            <a:pPr algn="l"/>
            <a:r>
              <a:rPr sz="2500" b="1" i="0">
                <a:solidFill>
                  <a:srgbClr val="FFFFFF"/>
                </a:solidFill>
                <a:latin typeface="Arial"/>
              </a:rPr>
              <a:t>Two searches that assume different things</a:t>
            </a:r>
            <a:endParaRPr sz="2500"/>
          </a:p>
        </p:txBody>
      </p:sp>
      <p:sp>
        <p:nvSpPr>
          <p:cNvPr id="3" name="Rectangle 2"/>
          <p:cNvSpPr/>
          <p:nvPr/>
        </p:nvSpPr>
        <p:spPr>
          <a:xfrm>
            <a:off x="0" y="786384"/>
            <a:ext cx="6966857" cy="41148"/>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2t-pagenum"/>
          <p:cNvSpPr txBox="1"/>
          <p:nvPr/>
        </p:nvSpPr>
        <p:spPr>
          <a:xfrm>
            <a:off x="11140440" y="6446520"/>
            <a:ext cx="731520" cy="274320"/>
          </a:xfrm>
          <a:prstGeom prst="rect">
            <a:avLst/>
          </a:prstGeom>
          <a:noFill/>
        </p:spPr>
        <p:txBody>
          <a:bodyPr wrap="square" anchor="t">
            <a:spAutoFit/>
          </a:bodyPr>
          <a:lstStyle/>
          <a:p>
            <a:pPr algn="r">
              <a:lnSpc>
                <a:spcPct val="115000"/>
              </a:lnSpc>
            </a:pPr>
            <a:r>
              <a:rPr sz="1700" b="0" i="0">
                <a:solidFill>
                  <a:srgbClr val="666666"/>
                </a:solidFill>
                <a:latin typeface="Arial"/>
              </a:rPr>
              <a:t>8/14</a:t>
            </a:r>
            <a:endParaRPr sz="1700"/>
          </a:p>
        </p:txBody>
      </p:sp>
      <p:pic>
        <p:nvPicPr>
          <p:cNvPr id="5" name="Picture 4" descr="diagram_10_self.png"/>
          <p:cNvPicPr>
            <a:picLocks noChangeAspect="1"/>
          </p:cNvPicPr>
          <p:nvPr/>
        </p:nvPicPr>
        <p:blipFill>
          <a:blip r:embed="rId2"/>
          <a:stretch>
            <a:fillRect/>
          </a:stretch>
        </p:blipFill>
        <p:spPr>
          <a:xfrm>
            <a:off x="502920" y="1225880"/>
            <a:ext cx="11186160" cy="3522320"/>
          </a:xfrm>
          <a:prstGeom prst="rect">
            <a:avLst/>
          </a:prstGeom>
        </p:spPr>
      </p:pic>
      <p:sp>
        <p:nvSpPr>
          <p:cNvPr id="6" name="TextBox 5"/>
          <p:cNvSpPr txBox="1"/>
          <p:nvPr/>
        </p:nvSpPr>
        <p:spPr>
          <a:xfrm>
            <a:off x="502920" y="4885360"/>
            <a:ext cx="11186160" cy="1176528"/>
          </a:xfrm>
          <a:prstGeom prst="rect">
            <a:avLst/>
          </a:prstGeom>
          <a:noFill/>
        </p:spPr>
        <p:txBody>
          <a:bodyPr wrap="square" anchor="t">
            <a:spAutoFit/>
          </a:bodyPr>
          <a:lstStyle/>
          <a:p>
            <a:pPr algn="l">
              <a:lnSpc>
                <a:spcPct val="115000"/>
              </a:lnSpc>
            </a:pPr>
            <a:r>
              <a:rPr sz="1600" b="0" i="0">
                <a:solidFill>
                  <a:srgbClr val="666666"/>
                </a:solidFill>
                <a:latin typeface="Arial"/>
              </a:rPr>
              <a:t>η</a:t>
            </a:r>
            <a:r>
              <a:rPr sz="1600" b="0" i="0" baseline="-25000">
                <a:solidFill>
                  <a:srgbClr val="666666"/>
                </a:solidFill>
                <a:latin typeface="Arial"/>
              </a:rPr>
              <a:t>c</a:t>
            </a:r>
            <a:r>
              <a:rPr sz="1600" b="0" i="0">
                <a:solidFill>
                  <a:srgbClr val="666666"/>
                </a:solidFill>
                <a:latin typeface="Arial"/>
              </a:rPr>
              <a:t>: coherent signal energy in both detectors, penalised by residual noise, so it measures SNR and agreement at once. ρ̂</a:t>
            </a:r>
            <a:r>
              <a:rPr sz="1600" b="0" i="0" baseline="-25000">
                <a:solidFill>
                  <a:srgbClr val="666666"/>
                </a:solidFill>
                <a:latin typeface="Arial"/>
              </a:rPr>
              <a:t>c</a:t>
            </a:r>
            <a:r>
              <a:rPr sz="1600" b="0" i="0">
                <a:solidFill>
                  <a:srgbClr val="666666"/>
                </a:solidFill>
                <a:latin typeface="Arial"/>
              </a:rPr>
              <a:t>: matched-filter SNR, down-weighted when a χ</a:t>
            </a:r>
            <a:r>
              <a:rPr sz="1600" b="0" i="0" baseline="30000">
                <a:solidFill>
                  <a:srgbClr val="666666"/>
                </a:solidFill>
                <a:latin typeface="Arial"/>
              </a:rPr>
              <a:t>2</a:t>
            </a:r>
            <a:r>
              <a:rPr sz="1600" b="0" i="0">
                <a:solidFill>
                  <a:srgbClr val="666666"/>
                </a:solidFill>
                <a:latin typeface="Arial"/>
              </a:rPr>
              <a:t> test says the data do not fit the template, added over both detectors. Generic classes: C1 shapes of known noise transients, C3 frequency rising with time, C2 the rest; each event is compared only with background of its own class.</a:t>
            </a:r>
            <a:endParaRPr sz="16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86384"/>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tIns="109728"/>
          <a:lstStyle/>
          <a:p>
            <a:pPr algn="l"/>
            <a:r>
              <a:rPr sz="2500" b="1" i="0">
                <a:solidFill>
                  <a:srgbClr val="FFFFFF"/>
                </a:solidFill>
                <a:latin typeface="Arial"/>
              </a:rPr>
              <a:t>How do you measure the noise when you cannot switch off gravity?</a:t>
            </a:r>
            <a:endParaRPr sz="2500"/>
          </a:p>
        </p:txBody>
      </p:sp>
      <p:sp>
        <p:nvSpPr>
          <p:cNvPr id="3" name="Rectangle 2"/>
          <p:cNvSpPr/>
          <p:nvPr/>
        </p:nvSpPr>
        <p:spPr>
          <a:xfrm>
            <a:off x="0" y="786384"/>
            <a:ext cx="7837714" cy="41148"/>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2t-pagenum"/>
          <p:cNvSpPr txBox="1"/>
          <p:nvPr/>
        </p:nvSpPr>
        <p:spPr>
          <a:xfrm>
            <a:off x="11140440" y="6446520"/>
            <a:ext cx="731520" cy="274320"/>
          </a:xfrm>
          <a:prstGeom prst="rect">
            <a:avLst/>
          </a:prstGeom>
          <a:noFill/>
        </p:spPr>
        <p:txBody>
          <a:bodyPr wrap="square" anchor="t">
            <a:spAutoFit/>
          </a:bodyPr>
          <a:lstStyle/>
          <a:p>
            <a:pPr algn="r">
              <a:lnSpc>
                <a:spcPct val="115000"/>
              </a:lnSpc>
            </a:pPr>
            <a:r>
              <a:rPr sz="1700" b="0" i="0">
                <a:solidFill>
                  <a:srgbClr val="666666"/>
                </a:solidFill>
                <a:latin typeface="Arial"/>
              </a:rPr>
              <a:t>9/14</a:t>
            </a:r>
            <a:endParaRPr sz="1700"/>
          </a:p>
        </p:txBody>
      </p:sp>
      <p:pic>
        <p:nvPicPr>
          <p:cNvPr id="5" name="Picture 4" descr="diagram_11_self.png"/>
          <p:cNvPicPr>
            <a:picLocks noChangeAspect="1"/>
          </p:cNvPicPr>
          <p:nvPr/>
        </p:nvPicPr>
        <p:blipFill>
          <a:blip r:embed="rId2"/>
          <a:stretch>
            <a:fillRect/>
          </a:stretch>
        </p:blipFill>
        <p:spPr>
          <a:xfrm>
            <a:off x="502920" y="932688"/>
            <a:ext cx="11186160" cy="2192568"/>
          </a:xfrm>
          <a:prstGeom prst="rect">
            <a:avLst/>
          </a:prstGeom>
        </p:spPr>
      </p:pic>
      <p:sp>
        <p:nvSpPr>
          <p:cNvPr id="6" name="TextBox 5"/>
          <p:cNvSpPr txBox="1"/>
          <p:nvPr/>
        </p:nvSpPr>
        <p:spPr>
          <a:xfrm>
            <a:off x="502920" y="3289848"/>
            <a:ext cx="11186160" cy="982980"/>
          </a:xfrm>
          <a:prstGeom prst="rect">
            <a:avLst/>
          </a:prstGeom>
          <a:noFill/>
        </p:spPr>
        <p:txBody>
          <a:bodyPr wrap="square" anchor="t">
            <a:spAutoFit/>
          </a:bodyPr>
          <a:lstStyle/>
          <a:p>
            <a:pPr algn="l" marL="165354" indent="-165354">
              <a:lnSpc>
                <a:spcPct val="145000"/>
              </a:lnSpc>
            </a:pPr>
            <a:r>
              <a:rPr sz="2100" b="0" i="0">
                <a:solidFill>
                  <a:srgbClr val="23373B"/>
                </a:solidFill>
                <a:latin typeface="Arial"/>
              </a:rPr>
              <a:t>• Estimate the background </a:t>
            </a:r>
            <a:r>
              <a:rPr sz="2100" b="1" i="0">
                <a:solidFill>
                  <a:srgbClr val="23373B"/>
                </a:solidFill>
                <a:latin typeface="Arial"/>
              </a:rPr>
              <a:t>empirically</a:t>
            </a:r>
            <a:r>
              <a:rPr sz="2100" b="0" i="0">
                <a:solidFill>
                  <a:srgbClr val="23373B"/>
                </a:solidFill>
                <a:latin typeface="Arial"/>
              </a:rPr>
              <a:t>: the noise is non-Gaussian and non-stationary, and no shield blocks gravitational waves.</a:t>
            </a:r>
            <a:endParaRPr sz="21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86384"/>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tIns="109728"/>
          <a:lstStyle/>
          <a:p>
            <a:pPr algn="l"/>
            <a:r>
              <a:rPr sz="2500" b="1" i="0">
                <a:solidFill>
                  <a:srgbClr val="FFFFFF"/>
                </a:solidFill>
                <a:latin typeface="Arial"/>
              </a:rPr>
              <a:t>Both searches put the event far out on the tail</a:t>
            </a:r>
            <a:endParaRPr sz="2500"/>
          </a:p>
        </p:txBody>
      </p:sp>
      <p:sp>
        <p:nvSpPr>
          <p:cNvPr id="3" name="Rectangle 2"/>
          <p:cNvSpPr/>
          <p:nvPr/>
        </p:nvSpPr>
        <p:spPr>
          <a:xfrm>
            <a:off x="0" y="786384"/>
            <a:ext cx="8708571" cy="41148"/>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2t-pagenum"/>
          <p:cNvSpPr txBox="1"/>
          <p:nvPr/>
        </p:nvSpPr>
        <p:spPr>
          <a:xfrm>
            <a:off x="11140440" y="6446520"/>
            <a:ext cx="731520" cy="274320"/>
          </a:xfrm>
          <a:prstGeom prst="rect">
            <a:avLst/>
          </a:prstGeom>
          <a:noFill/>
        </p:spPr>
        <p:txBody>
          <a:bodyPr wrap="square" anchor="t">
            <a:spAutoFit/>
          </a:bodyPr>
          <a:lstStyle/>
          <a:p>
            <a:pPr algn="r">
              <a:lnSpc>
                <a:spcPct val="115000"/>
              </a:lnSpc>
            </a:pPr>
            <a:r>
              <a:rPr sz="1700" b="0" i="0">
                <a:solidFill>
                  <a:srgbClr val="666666"/>
                </a:solidFill>
                <a:latin typeface="Arial"/>
              </a:rPr>
              <a:t>10/14</a:t>
            </a:r>
            <a:endParaRPr sz="1700"/>
          </a:p>
        </p:txBody>
      </p:sp>
      <p:pic>
        <p:nvPicPr>
          <p:cNvPr id="5" name="Picture 4" descr="fig_4.png"/>
          <p:cNvPicPr>
            <a:picLocks noChangeAspect="1"/>
          </p:cNvPicPr>
          <p:nvPr/>
        </p:nvPicPr>
        <p:blipFill>
          <a:blip r:embed="rId2"/>
          <a:stretch>
            <a:fillRect/>
          </a:stretch>
        </p:blipFill>
        <p:spPr>
          <a:xfrm>
            <a:off x="2470381" y="932688"/>
            <a:ext cx="7251236" cy="2978658"/>
          </a:xfrm>
          <a:prstGeom prst="rect">
            <a:avLst/>
          </a:prstGeom>
        </p:spPr>
      </p:pic>
      <p:sp>
        <p:nvSpPr>
          <p:cNvPr id="6" name="p2t-highlight"/>
          <p:cNvSpPr/>
          <p:nvPr/>
        </p:nvSpPr>
        <p:spPr>
          <a:xfrm>
            <a:off x="5298363" y="1677352"/>
            <a:ext cx="435074" cy="446798"/>
          </a:xfrm>
          <a:prstGeom prst="rect">
            <a:avLst/>
          </a:prstGeom>
          <a:noFill/>
          <a:ln w="25400">
            <a:solidFill>
              <a:srgbClr val="A257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2t-highlight"/>
          <p:cNvSpPr txBox="1"/>
          <p:nvPr/>
        </p:nvSpPr>
        <p:spPr>
          <a:xfrm>
            <a:off x="5298363" y="1403032"/>
            <a:ext cx="981075" cy="256032"/>
          </a:xfrm>
          <a:prstGeom prst="rect">
            <a:avLst/>
          </a:prstGeom>
          <a:noFill/>
        </p:spPr>
        <p:txBody>
          <a:bodyPr wrap="none" anchor="t">
            <a:spAutoFit/>
          </a:bodyPr>
          <a:lstStyle/>
          <a:p>
            <a:pPr algn="l">
              <a:lnSpc>
                <a:spcPct val="115000"/>
              </a:lnSpc>
            </a:pPr>
            <a:r>
              <a:rPr sz="1500" b="1" i="0">
                <a:solidFill>
                  <a:srgbClr val="A2570E"/>
                </a:solidFill>
                <a:latin typeface="Arial"/>
              </a:rPr>
              <a:t>η = 20.0</a:t>
            </a:r>
            <a:endParaRPr sz="1500"/>
          </a:p>
        </p:txBody>
      </p:sp>
      <p:sp>
        <p:nvSpPr>
          <p:cNvPr id="8" name="p2t-highlight"/>
          <p:cNvSpPr/>
          <p:nvPr/>
        </p:nvSpPr>
        <p:spPr>
          <a:xfrm>
            <a:off x="9141519" y="1677352"/>
            <a:ext cx="435074" cy="446798"/>
          </a:xfrm>
          <a:prstGeom prst="rect">
            <a:avLst/>
          </a:prstGeom>
          <a:noFill/>
          <a:ln w="25400">
            <a:solidFill>
              <a:srgbClr val="A257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2t-highlight"/>
          <p:cNvSpPr txBox="1"/>
          <p:nvPr/>
        </p:nvSpPr>
        <p:spPr>
          <a:xfrm>
            <a:off x="8593613" y="1403032"/>
            <a:ext cx="982980" cy="256032"/>
          </a:xfrm>
          <a:prstGeom prst="rect">
            <a:avLst/>
          </a:prstGeom>
          <a:noFill/>
        </p:spPr>
        <p:txBody>
          <a:bodyPr wrap="none" anchor="t">
            <a:spAutoFit/>
          </a:bodyPr>
          <a:lstStyle/>
          <a:p>
            <a:pPr algn="r">
              <a:lnSpc>
                <a:spcPct val="115000"/>
              </a:lnSpc>
            </a:pPr>
            <a:r>
              <a:rPr sz="1500" b="1" i="0">
                <a:solidFill>
                  <a:srgbClr val="A2570E"/>
                </a:solidFill>
                <a:latin typeface="Arial"/>
              </a:rPr>
              <a:t>ρ = 23.6</a:t>
            </a:r>
            <a:endParaRPr sz="1500"/>
          </a:p>
        </p:txBody>
      </p:sp>
      <p:sp>
        <p:nvSpPr>
          <p:cNvPr id="10" name="TextBox 9"/>
          <p:cNvSpPr txBox="1"/>
          <p:nvPr/>
        </p:nvSpPr>
        <p:spPr>
          <a:xfrm>
            <a:off x="502920" y="4002785"/>
            <a:ext cx="11186160" cy="457200"/>
          </a:xfrm>
          <a:prstGeom prst="rect">
            <a:avLst/>
          </a:prstGeom>
          <a:noFill/>
        </p:spPr>
        <p:txBody>
          <a:bodyPr wrap="square" anchor="t">
            <a:spAutoFit/>
          </a:bodyPr>
          <a:lstStyle/>
          <a:p>
            <a:pPr algn="ctr">
              <a:lnSpc>
                <a:spcPct val="115000"/>
              </a:lnSpc>
            </a:pPr>
            <a:r>
              <a:rPr sz="1700" b="0" i="0">
                <a:solidFill>
                  <a:srgbClr val="666666"/>
                </a:solidFill>
                <a:latin typeface="Arial"/>
              </a:rPr>
              <a:t>Paper Fig. 4: candidates (markers) and mean background (lines); left generic, right binary search.</a:t>
            </a:r>
            <a:endParaRPr sz="1700"/>
          </a:p>
        </p:txBody>
      </p:sp>
      <p:sp>
        <p:nvSpPr>
          <p:cNvPr id="11" name="TextBox 10"/>
          <p:cNvSpPr txBox="1"/>
          <p:nvPr/>
        </p:nvSpPr>
        <p:spPr>
          <a:xfrm>
            <a:off x="502920" y="4578857"/>
            <a:ext cx="11186160" cy="982980"/>
          </a:xfrm>
          <a:prstGeom prst="rect">
            <a:avLst/>
          </a:prstGeom>
          <a:noFill/>
        </p:spPr>
        <p:txBody>
          <a:bodyPr wrap="square" anchor="t">
            <a:spAutoFit/>
          </a:bodyPr>
          <a:lstStyle/>
          <a:p>
            <a:pPr algn="l" marL="165354" indent="-165354">
              <a:lnSpc>
                <a:spcPct val="145000"/>
              </a:lnSpc>
            </a:pPr>
            <a:r>
              <a:rPr sz="2100" b="0" i="0">
                <a:solidFill>
                  <a:srgbClr val="23373B"/>
                </a:solidFill>
                <a:latin typeface="Arial"/>
              </a:rPr>
              <a:t>• In the binary search the event is </a:t>
            </a:r>
            <a:r>
              <a:rPr sz="2100" b="1" i="0">
                <a:solidFill>
                  <a:srgbClr val="23373B"/>
                </a:solidFill>
                <a:latin typeface="Arial"/>
              </a:rPr>
              <a:t>louder than any background event</a:t>
            </a:r>
            <a:r>
              <a:rPr sz="2100" b="0" i="0">
                <a:solidFill>
                  <a:srgbClr val="23373B"/>
                </a:solidFill>
                <a:latin typeface="Arial"/>
              </a:rPr>
              <a:t>, so only an upper bound on its false alarm rate exists.</a:t>
            </a:r>
            <a:endParaRPr sz="2100"/>
          </a:p>
        </p:txBody>
      </p:sp>
      <p:sp>
        <p:nvSpPr>
          <p:cNvPr id="12" name="TextBox 11"/>
          <p:cNvSpPr txBox="1"/>
          <p:nvPr/>
        </p:nvSpPr>
        <p:spPr>
          <a:xfrm>
            <a:off x="502920" y="5675376"/>
            <a:ext cx="11186160" cy="615696"/>
          </a:xfrm>
          <a:prstGeom prst="rect">
            <a:avLst/>
          </a:prstGeom>
          <a:noFill/>
        </p:spPr>
        <p:txBody>
          <a:bodyPr wrap="square" anchor="t">
            <a:spAutoFit/>
          </a:bodyPr>
          <a:lstStyle/>
          <a:p>
            <a:pPr algn="l">
              <a:lnSpc>
                <a:spcPct val="115000"/>
              </a:lnSpc>
            </a:pPr>
            <a:r>
              <a:rPr sz="1600" b="0" i="0">
                <a:solidFill>
                  <a:srgbClr val="666666"/>
                </a:solidFill>
                <a:latin typeface="Arial"/>
              </a:rPr>
              <a:t>Purple: binary background without GW150914; against it the next strongest candidate has a false alarm rate of 1 per 2.3 years.</a:t>
            </a:r>
            <a:endParaRPr sz="16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7780"/>
            <a:ext cx="11186160" cy="531114"/>
          </a:xfrm>
          <a:prstGeom prst="rect">
            <a:avLst/>
          </a:prstGeom>
          <a:noFill/>
        </p:spPr>
        <p:txBody>
          <a:bodyPr wrap="square" anchor="t">
            <a:spAutoFit/>
          </a:bodyPr>
          <a:lstStyle/>
          <a:p>
            <a:pPr algn="ctr">
              <a:lnSpc>
                <a:spcPct val="115000"/>
              </a:lnSpc>
            </a:pPr>
            <a:r>
              <a:rPr sz="2500" b="0" i="0">
                <a:solidFill>
                  <a:srgbClr val="FFFFFF"/>
                </a:solidFill>
                <a:latin typeface="Arial"/>
              </a:rPr>
              <a:t>How often does noise alone make a gravitational-wave signal this strong?</a:t>
            </a:r>
            <a:endParaRPr sz="2500"/>
          </a:p>
        </p:txBody>
      </p:sp>
      <p:sp>
        <p:nvSpPr>
          <p:cNvPr id="4" name="TextBox 3"/>
          <p:cNvSpPr txBox="1"/>
          <p:nvPr/>
        </p:nvSpPr>
        <p:spPr>
          <a:xfrm>
            <a:off x="1764665" y="2047494"/>
            <a:ext cx="3291840" cy="531114"/>
          </a:xfrm>
          <a:prstGeom prst="rect">
            <a:avLst/>
          </a:prstGeom>
          <a:noFill/>
        </p:spPr>
        <p:txBody>
          <a:bodyPr wrap="square" anchor="t">
            <a:spAutoFit/>
          </a:bodyPr>
          <a:lstStyle/>
          <a:p>
            <a:pPr algn="ctr">
              <a:lnSpc>
                <a:spcPct val="115000"/>
              </a:lnSpc>
            </a:pPr>
            <a:r>
              <a:rPr sz="2500" b="1" i="0">
                <a:solidFill>
                  <a:srgbClr val="7DD9A0"/>
                </a:solidFill>
                <a:latin typeface="Arial"/>
              </a:rPr>
              <a:t>binary coalescence</a:t>
            </a:r>
            <a:endParaRPr sz="2500"/>
          </a:p>
        </p:txBody>
      </p:sp>
      <p:sp>
        <p:nvSpPr>
          <p:cNvPr id="5" name="TextBox 4"/>
          <p:cNvSpPr txBox="1"/>
          <p:nvPr/>
        </p:nvSpPr>
        <p:spPr>
          <a:xfrm>
            <a:off x="1764665" y="2578608"/>
            <a:ext cx="3291840" cy="790956"/>
          </a:xfrm>
          <a:prstGeom prst="rect">
            <a:avLst/>
          </a:prstGeom>
          <a:noFill/>
        </p:spPr>
        <p:txBody>
          <a:bodyPr wrap="square" anchor="t">
            <a:spAutoFit/>
          </a:bodyPr>
          <a:lstStyle/>
          <a:p>
            <a:pPr algn="ctr">
              <a:lnSpc>
                <a:spcPct val="115000"/>
              </a:lnSpc>
            </a:pPr>
            <a:r>
              <a:rPr sz="4200" b="1" i="0">
                <a:solidFill>
                  <a:srgbClr val="7DD9A0"/>
                </a:solidFill>
                <a:latin typeface="Arial"/>
              </a:rPr>
              <a:t>&gt; 5.1σ</a:t>
            </a:r>
            <a:endParaRPr sz="4200"/>
          </a:p>
        </p:txBody>
      </p:sp>
      <p:sp>
        <p:nvSpPr>
          <p:cNvPr id="6" name="TextBox 5"/>
          <p:cNvSpPr txBox="1"/>
          <p:nvPr/>
        </p:nvSpPr>
        <p:spPr>
          <a:xfrm>
            <a:off x="1764665" y="3369564"/>
            <a:ext cx="3291840" cy="702564"/>
          </a:xfrm>
          <a:prstGeom prst="rect">
            <a:avLst/>
          </a:prstGeom>
          <a:noFill/>
        </p:spPr>
        <p:txBody>
          <a:bodyPr wrap="square" anchor="t">
            <a:spAutoFit/>
          </a:bodyPr>
          <a:lstStyle/>
          <a:p>
            <a:pPr algn="ctr">
              <a:lnSpc>
                <a:spcPct val="115000"/>
              </a:lnSpc>
            </a:pPr>
            <a:r>
              <a:rPr sz="1700" b="0" i="0">
                <a:solidFill>
                  <a:srgbClr val="7DD9A0"/>
                </a:solidFill>
                <a:latin typeface="Arial"/>
              </a:rPr>
              <a:t>false alarm rate below 1 in 203 000 years</a:t>
            </a:r>
            <a:endParaRPr sz="1700"/>
          </a:p>
        </p:txBody>
      </p:sp>
      <p:sp>
        <p:nvSpPr>
          <p:cNvPr id="7" name="TextBox 6"/>
          <p:cNvSpPr txBox="1"/>
          <p:nvPr/>
        </p:nvSpPr>
        <p:spPr>
          <a:xfrm>
            <a:off x="7135495" y="2047494"/>
            <a:ext cx="3291840" cy="531114"/>
          </a:xfrm>
          <a:prstGeom prst="rect">
            <a:avLst/>
          </a:prstGeom>
          <a:noFill/>
        </p:spPr>
        <p:txBody>
          <a:bodyPr wrap="square" anchor="t">
            <a:spAutoFit/>
          </a:bodyPr>
          <a:lstStyle/>
          <a:p>
            <a:pPr algn="ctr">
              <a:lnSpc>
                <a:spcPct val="115000"/>
              </a:lnSpc>
            </a:pPr>
            <a:r>
              <a:rPr sz="2500" b="1" i="0">
                <a:solidFill>
                  <a:srgbClr val="7DD9A0"/>
                </a:solidFill>
                <a:latin typeface="Arial"/>
              </a:rPr>
              <a:t>generic transient</a:t>
            </a:r>
            <a:endParaRPr sz="2500"/>
          </a:p>
        </p:txBody>
      </p:sp>
      <p:sp>
        <p:nvSpPr>
          <p:cNvPr id="8" name="TextBox 7"/>
          <p:cNvSpPr txBox="1"/>
          <p:nvPr/>
        </p:nvSpPr>
        <p:spPr>
          <a:xfrm>
            <a:off x="7135495" y="2578608"/>
            <a:ext cx="3291840" cy="790956"/>
          </a:xfrm>
          <a:prstGeom prst="rect">
            <a:avLst/>
          </a:prstGeom>
          <a:noFill/>
        </p:spPr>
        <p:txBody>
          <a:bodyPr wrap="square" anchor="t">
            <a:spAutoFit/>
          </a:bodyPr>
          <a:lstStyle/>
          <a:p>
            <a:pPr algn="ctr">
              <a:lnSpc>
                <a:spcPct val="115000"/>
              </a:lnSpc>
            </a:pPr>
            <a:r>
              <a:rPr sz="4200" b="1" i="0">
                <a:solidFill>
                  <a:srgbClr val="7DD9A0"/>
                </a:solidFill>
                <a:latin typeface="Arial"/>
              </a:rPr>
              <a:t>4.6σ</a:t>
            </a:r>
            <a:endParaRPr sz="4200"/>
          </a:p>
        </p:txBody>
      </p:sp>
      <p:sp>
        <p:nvSpPr>
          <p:cNvPr id="9" name="TextBox 8"/>
          <p:cNvSpPr txBox="1"/>
          <p:nvPr/>
        </p:nvSpPr>
        <p:spPr>
          <a:xfrm>
            <a:off x="7135495" y="3369564"/>
            <a:ext cx="3291840" cy="702564"/>
          </a:xfrm>
          <a:prstGeom prst="rect">
            <a:avLst/>
          </a:prstGeom>
          <a:noFill/>
        </p:spPr>
        <p:txBody>
          <a:bodyPr wrap="square" anchor="t">
            <a:spAutoFit/>
          </a:bodyPr>
          <a:lstStyle/>
          <a:p>
            <a:pPr algn="ctr">
              <a:lnSpc>
                <a:spcPct val="115000"/>
              </a:lnSpc>
            </a:pPr>
            <a:r>
              <a:rPr sz="1700" b="0" i="0">
                <a:solidFill>
                  <a:srgbClr val="7DD9A0"/>
                </a:solidFill>
                <a:latin typeface="Arial"/>
              </a:rPr>
              <a:t>false alarm rate below 1 in 22 500 years</a:t>
            </a:r>
            <a:endParaRPr sz="1700"/>
          </a:p>
        </p:txBody>
      </p:sp>
      <p:sp>
        <p:nvSpPr>
          <p:cNvPr id="10" name="TextBox 9"/>
          <p:cNvSpPr txBox="1"/>
          <p:nvPr/>
        </p:nvSpPr>
        <p:spPr>
          <a:xfrm>
            <a:off x="5056505" y="2578608"/>
            <a:ext cx="2078990" cy="1483614"/>
          </a:xfrm>
          <a:prstGeom prst="rect">
            <a:avLst/>
          </a:prstGeom>
          <a:noFill/>
        </p:spPr>
        <p:txBody>
          <a:bodyPr wrap="square" anchor="t">
            <a:spAutoFit/>
          </a:bodyPr>
          <a:lstStyle/>
          <a:p>
            <a:pPr algn="ctr">
              <a:lnSpc>
                <a:spcPct val="115000"/>
              </a:lnSpc>
            </a:pPr>
            <a:r>
              <a:rPr sz="2500" b="0" i="0">
                <a:solidFill>
                  <a:srgbClr val="FFFFFF"/>
                </a:solidFill>
                <a:latin typeface="Arial"/>
              </a:rPr>
              <a:t>two independent searches</a:t>
            </a:r>
            <a:endParaRPr sz="2500"/>
          </a:p>
        </p:txBody>
      </p:sp>
      <p:sp>
        <p:nvSpPr>
          <p:cNvPr id="11" name="TextBox 10"/>
          <p:cNvSpPr txBox="1"/>
          <p:nvPr/>
        </p:nvSpPr>
        <p:spPr>
          <a:xfrm>
            <a:off x="502920" y="5039106"/>
            <a:ext cx="11186160" cy="531114"/>
          </a:xfrm>
          <a:prstGeom prst="rect">
            <a:avLst/>
          </a:prstGeom>
          <a:noFill/>
        </p:spPr>
        <p:txBody>
          <a:bodyPr wrap="square" anchor="t">
            <a:spAutoFit/>
          </a:bodyPr>
          <a:lstStyle/>
          <a:p>
            <a:pPr algn="ctr">
              <a:lnSpc>
                <a:spcPct val="115000"/>
              </a:lnSpc>
            </a:pPr>
            <a:r>
              <a:rPr sz="2500" b="0" i="0">
                <a:solidFill>
                  <a:srgbClr val="FFFFFF"/>
                </a:solidFill>
                <a:latin typeface="Arial"/>
              </a:rPr>
              <a:t>Confidently detected by both.</a:t>
            </a:r>
            <a:endParaRPr sz="25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86384"/>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tIns="109728"/>
          <a:lstStyle/>
          <a:p>
            <a:pPr algn="l"/>
            <a:r>
              <a:rPr sz="2500" b="1" i="0">
                <a:solidFill>
                  <a:srgbClr val="FFFFFF"/>
                </a:solidFill>
                <a:latin typeface="Arial"/>
              </a:rPr>
              <a:t>Two black holes of about 36 and 29 solar masses became one of 62</a:t>
            </a:r>
            <a:endParaRPr sz="2500"/>
          </a:p>
        </p:txBody>
      </p:sp>
      <p:sp>
        <p:nvSpPr>
          <p:cNvPr id="3" name="Rectangle 2"/>
          <p:cNvSpPr/>
          <p:nvPr/>
        </p:nvSpPr>
        <p:spPr>
          <a:xfrm>
            <a:off x="0" y="786384"/>
            <a:ext cx="9579428" cy="41148"/>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2t-pagenum"/>
          <p:cNvSpPr txBox="1"/>
          <p:nvPr/>
        </p:nvSpPr>
        <p:spPr>
          <a:xfrm>
            <a:off x="11140440" y="6446520"/>
            <a:ext cx="731520" cy="274320"/>
          </a:xfrm>
          <a:prstGeom prst="rect">
            <a:avLst/>
          </a:prstGeom>
          <a:noFill/>
        </p:spPr>
        <p:txBody>
          <a:bodyPr wrap="square" anchor="t">
            <a:spAutoFit/>
          </a:bodyPr>
          <a:lstStyle/>
          <a:p>
            <a:pPr algn="r">
              <a:lnSpc>
                <a:spcPct val="115000"/>
              </a:lnSpc>
            </a:pPr>
            <a:r>
              <a:rPr sz="1700" b="0" i="0">
                <a:solidFill>
                  <a:srgbClr val="666666"/>
                </a:solidFill>
                <a:latin typeface="Arial"/>
              </a:rPr>
              <a:t>11/14</a:t>
            </a:r>
            <a:endParaRPr sz="1700"/>
          </a:p>
        </p:txBody>
      </p:sp>
      <p:graphicFrame>
        <p:nvGraphicFramePr>
          <p:cNvPr id="5" name="Table 4"/>
          <p:cNvGraphicFramePr>
            <a:graphicFrameLocks noGrp="1"/>
          </p:cNvGraphicFramePr>
          <p:nvPr/>
        </p:nvGraphicFramePr>
        <p:xfrm>
          <a:off x="502920" y="932688"/>
          <a:ext cx="6051804" cy="2423414"/>
        </p:xfrm>
        <a:graphic>
          <a:graphicData uri="http://schemas.openxmlformats.org/drawingml/2006/table">
            <a:tbl>
              <a:tblPr firstRow="1" bandRow="1"/>
              <a:tblGrid>
                <a:gridCol w="3254756"/>
                <a:gridCol w="2797048"/>
              </a:tblGrid>
              <a:tr h="346202">
                <a:tc>
                  <a:txBody>
                    <a:bodyPr/>
                    <a:lstStyle/>
                    <a:p>
                      <a:pPr algn="l"/>
                      <a:r>
                        <a:rPr sz="1700" b="1" i="0">
                          <a:solidFill>
                            <a:srgbClr val="23373B"/>
                          </a:solidFill>
                          <a:latin typeface="Arial"/>
                        </a:rPr>
                        <a:t>Table I</a:t>
                      </a:r>
                      <a:endParaRPr sz="1700"/>
                    </a:p>
                  </a:txBody>
                  <a:tcPr marL="91440" marR="91440" anchor="ctr">
                    <a:lnL w="0">
                      <a:noFill/>
                    </a:lnL>
                    <a:lnR w="0">
                      <a:noFill/>
                    </a:lnR>
                    <a:lnT w="15875" cap="flat">
                      <a:solidFill>
                        <a:srgbClr val="23373B"/>
                      </a:solidFill>
                    </a:lnT>
                    <a:lnB w="9525" cap="flat">
                      <a:solidFill>
                        <a:srgbClr val="23373B"/>
                      </a:solidFill>
                    </a:lnB>
                  </a:tcPr>
                </a:tc>
                <a:tc>
                  <a:txBody>
                    <a:bodyPr/>
                    <a:lstStyle/>
                    <a:p>
                      <a:pPr algn="l"/>
                      <a:r>
                        <a:rPr sz="1700" b="1" i="0">
                          <a:solidFill>
                            <a:srgbClr val="23373B"/>
                          </a:solidFill>
                          <a:latin typeface="Arial"/>
                        </a:rPr>
                        <a:t>median, 90% interval</a:t>
                      </a:r>
                      <a:endParaRPr sz="1700"/>
                    </a:p>
                  </a:txBody>
                  <a:tcPr marL="91440" marR="91440" anchor="ctr">
                    <a:lnL w="0">
                      <a:noFill/>
                    </a:lnL>
                    <a:lnR w="0">
                      <a:noFill/>
                    </a:lnR>
                    <a:lnT w="15875" cap="flat">
                      <a:solidFill>
                        <a:srgbClr val="23373B"/>
                      </a:solidFill>
                    </a:lnT>
                    <a:lnB w="9525" cap="flat">
                      <a:solidFill>
                        <a:srgbClr val="23373B"/>
                      </a:solidFill>
                    </a:lnB>
                  </a:tcPr>
                </a:tc>
              </a:tr>
              <a:tr h="346202">
                <a:tc>
                  <a:txBody>
                    <a:bodyPr/>
                    <a:lstStyle/>
                    <a:p>
                      <a:pPr algn="l"/>
                      <a:r>
                        <a:rPr sz="1700" b="0" i="0">
                          <a:solidFill>
                            <a:srgbClr val="23373B"/>
                          </a:solidFill>
                          <a:latin typeface="Arial"/>
                        </a:rPr>
                        <a:t>Primary black hole mass</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36 (+5 / −4) M⊙</a:t>
                      </a:r>
                      <a:endParaRPr sz="1700"/>
                    </a:p>
                  </a:txBody>
                  <a:tcPr marL="91440" marR="91440" anchor="ctr">
                    <a:lnL w="0">
                      <a:noFill/>
                    </a:lnL>
                    <a:lnR w="0">
                      <a:noFill/>
                    </a:lnR>
                    <a:lnT w="0">
                      <a:noFill/>
                    </a:lnT>
                    <a:lnB w="0">
                      <a:noFill/>
                    </a:lnB>
                  </a:tcPr>
                </a:tc>
              </a:tr>
              <a:tr h="346202">
                <a:tc>
                  <a:txBody>
                    <a:bodyPr/>
                    <a:lstStyle/>
                    <a:p>
                      <a:pPr algn="l"/>
                      <a:r>
                        <a:rPr sz="1700" b="0" i="0">
                          <a:solidFill>
                            <a:srgbClr val="23373B"/>
                          </a:solidFill>
                          <a:latin typeface="Arial"/>
                        </a:rPr>
                        <a:t>Secondary black hole mass</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29 (+4 / −4) M⊙</a:t>
                      </a:r>
                      <a:endParaRPr sz="1700"/>
                    </a:p>
                  </a:txBody>
                  <a:tcPr marL="91440" marR="91440" anchor="ctr">
                    <a:lnL w="0">
                      <a:noFill/>
                    </a:lnL>
                    <a:lnR w="0">
                      <a:noFill/>
                    </a:lnR>
                    <a:lnT w="0">
                      <a:noFill/>
                    </a:lnT>
                    <a:lnB w="0">
                      <a:noFill/>
                    </a:lnB>
                  </a:tcPr>
                </a:tc>
              </a:tr>
              <a:tr h="346202">
                <a:tc>
                  <a:txBody>
                    <a:bodyPr/>
                    <a:lstStyle/>
                    <a:p>
                      <a:pPr algn="l"/>
                      <a:r>
                        <a:rPr sz="1700" b="0" i="0">
                          <a:solidFill>
                            <a:srgbClr val="23373B"/>
                          </a:solidFill>
                          <a:latin typeface="Arial"/>
                        </a:rPr>
                        <a:t>Final black hole mass</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62 (+4 / −4) M⊙</a:t>
                      </a:r>
                      <a:endParaRPr sz="1700"/>
                    </a:p>
                  </a:txBody>
                  <a:tcPr marL="91440" marR="91440" anchor="ctr">
                    <a:lnL w="0">
                      <a:noFill/>
                    </a:lnL>
                    <a:lnR w="0">
                      <a:noFill/>
                    </a:lnR>
                    <a:lnT w="0">
                      <a:noFill/>
                    </a:lnT>
                    <a:lnB w="0">
                      <a:noFill/>
                    </a:lnB>
                  </a:tcPr>
                </a:tc>
              </a:tr>
              <a:tr h="346202">
                <a:tc>
                  <a:txBody>
                    <a:bodyPr/>
                    <a:lstStyle/>
                    <a:p>
                      <a:pPr algn="l"/>
                      <a:r>
                        <a:rPr sz="1700" b="0" i="0">
                          <a:solidFill>
                            <a:srgbClr val="23373B"/>
                          </a:solidFill>
                          <a:latin typeface="Arial"/>
                        </a:rPr>
                        <a:t>Final black hole spin</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0.67 (+0.05 / −0.07)</a:t>
                      </a:r>
                      <a:endParaRPr sz="1700"/>
                    </a:p>
                  </a:txBody>
                  <a:tcPr marL="91440" marR="91440" anchor="ctr">
                    <a:lnL w="0">
                      <a:noFill/>
                    </a:lnL>
                    <a:lnR w="0">
                      <a:noFill/>
                    </a:lnR>
                    <a:lnT w="0">
                      <a:noFill/>
                    </a:lnT>
                    <a:lnB w="0">
                      <a:noFill/>
                    </a:lnB>
                  </a:tcPr>
                </a:tc>
              </a:tr>
              <a:tr h="346202">
                <a:tc>
                  <a:txBody>
                    <a:bodyPr/>
                    <a:lstStyle/>
                    <a:p>
                      <a:pPr algn="l"/>
                      <a:r>
                        <a:rPr sz="1700" b="0" i="0">
                          <a:solidFill>
                            <a:srgbClr val="23373B"/>
                          </a:solidFill>
                          <a:latin typeface="Arial"/>
                        </a:rPr>
                        <a:t>Luminosity distance</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410 (+160 / −180) Mpc</a:t>
                      </a:r>
                      <a:endParaRPr sz="1700"/>
                    </a:p>
                  </a:txBody>
                  <a:tcPr marL="91440" marR="91440" anchor="ctr">
                    <a:lnL w="0">
                      <a:noFill/>
                    </a:lnL>
                    <a:lnR w="0">
                      <a:noFill/>
                    </a:lnR>
                    <a:lnT w="0">
                      <a:noFill/>
                    </a:lnT>
                    <a:lnB w="0">
                      <a:noFill/>
                    </a:lnB>
                  </a:tcPr>
                </a:tc>
              </a:tr>
              <a:tr h="346202">
                <a:tc>
                  <a:txBody>
                    <a:bodyPr/>
                    <a:lstStyle/>
                    <a:p>
                      <a:pPr algn="l"/>
                      <a:r>
                        <a:rPr sz="1700" b="0" i="0">
                          <a:solidFill>
                            <a:srgbClr val="23373B"/>
                          </a:solidFill>
                          <a:latin typeface="Arial"/>
                        </a:rPr>
                        <a:t>Source redshift z</a:t>
                      </a:r>
                      <a:endParaRPr sz="1700"/>
                    </a:p>
                  </a:txBody>
                  <a:tcPr marL="91440" marR="91440" anchor="ctr">
                    <a:lnL w="0">
                      <a:noFill/>
                    </a:lnL>
                    <a:lnR w="0">
                      <a:noFill/>
                    </a:lnR>
                    <a:lnT w="0">
                      <a:noFill/>
                    </a:lnT>
                    <a:lnB w="15875" cap="flat">
                      <a:solidFill>
                        <a:srgbClr val="23373B"/>
                      </a:solidFill>
                    </a:lnB>
                  </a:tcPr>
                </a:tc>
                <a:tc>
                  <a:txBody>
                    <a:bodyPr/>
                    <a:lstStyle/>
                    <a:p>
                      <a:pPr algn="l"/>
                      <a:r>
                        <a:rPr sz="1700" b="0" i="0">
                          <a:solidFill>
                            <a:srgbClr val="23373B"/>
                          </a:solidFill>
                          <a:latin typeface="Arial"/>
                        </a:rPr>
                        <a:t>0.09 (+0.03 / −0.04)</a:t>
                      </a:r>
                      <a:endParaRPr sz="1700"/>
                    </a:p>
                  </a:txBody>
                  <a:tcPr marL="91440" marR="91440" anchor="ctr">
                    <a:lnL w="0">
                      <a:noFill/>
                    </a:lnL>
                    <a:lnR w="0">
                      <a:noFill/>
                    </a:lnR>
                    <a:lnT w="0">
                      <a:noFill/>
                    </a:lnT>
                    <a:lnB w="15875" cap="flat">
                      <a:solidFill>
                        <a:srgbClr val="23373B"/>
                      </a:solidFill>
                    </a:lnB>
                  </a:tcPr>
                </a:tc>
              </a:tr>
            </a:tbl>
          </a:graphicData>
        </a:graphic>
      </p:graphicFrame>
      <p:sp>
        <p:nvSpPr>
          <p:cNvPr id="6" name="TextBox 5"/>
          <p:cNvSpPr txBox="1"/>
          <p:nvPr/>
        </p:nvSpPr>
        <p:spPr>
          <a:xfrm>
            <a:off x="502920" y="3429254"/>
            <a:ext cx="6051804" cy="365760"/>
          </a:xfrm>
          <a:prstGeom prst="rect">
            <a:avLst/>
          </a:prstGeom>
          <a:noFill/>
        </p:spPr>
        <p:txBody>
          <a:bodyPr wrap="square" anchor="t">
            <a:spAutoFit/>
          </a:bodyPr>
          <a:lstStyle/>
          <a:p>
            <a:pPr algn="l">
              <a:lnSpc>
                <a:spcPct val="115000"/>
              </a:lnSpc>
            </a:pPr>
            <a:r>
              <a:rPr sz="1600" b="0" i="0">
                <a:solidFill>
                  <a:srgbClr val="666666"/>
                </a:solidFill>
                <a:latin typeface="Arial"/>
              </a:rPr>
              <a:t>Source-frame masses (detector frame = source frame x (1+z)); errors include waveform-model systematics.</a:t>
            </a:r>
            <a:endParaRPr sz="1600"/>
          </a:p>
        </p:txBody>
      </p:sp>
      <p:sp>
        <p:nvSpPr>
          <p:cNvPr id="7" name="TextBox 6"/>
          <p:cNvSpPr txBox="1"/>
          <p:nvPr/>
        </p:nvSpPr>
        <p:spPr>
          <a:xfrm>
            <a:off x="6755892" y="932688"/>
            <a:ext cx="4933188" cy="877824"/>
          </a:xfrm>
          <a:prstGeom prst="rect">
            <a:avLst/>
          </a:prstGeom>
          <a:noFill/>
        </p:spPr>
        <p:txBody>
          <a:bodyPr wrap="square" anchor="t">
            <a:spAutoFit/>
          </a:bodyPr>
          <a:lstStyle/>
          <a:p>
            <a:pPr algn="l" marL="157480" indent="-157480">
              <a:lnSpc>
                <a:spcPct val="135000"/>
              </a:lnSpc>
            </a:pPr>
            <a:r>
              <a:rPr sz="2000" b="0" i="0">
                <a:solidFill>
                  <a:srgbClr val="23373B"/>
                </a:solidFill>
                <a:latin typeface="Arial"/>
              </a:rPr>
              <a:t>• </a:t>
            </a:r>
            <a:r>
              <a:rPr sz="2000" b="1" i="0">
                <a:solidFill>
                  <a:srgbClr val="23373B"/>
                </a:solidFill>
                <a:latin typeface="Arial"/>
              </a:rPr>
              <a:t>3.0 (+0.5 / −0.5)</a:t>
            </a:r>
            <a:r>
              <a:rPr sz="2000" b="0" i="0">
                <a:solidFill>
                  <a:srgbClr val="23373B"/>
                </a:solidFill>
                <a:latin typeface="Arial"/>
              </a:rPr>
              <a:t> M⊙ c</a:t>
            </a:r>
            <a:r>
              <a:rPr sz="2000" b="0" i="0" baseline="30000">
                <a:solidFill>
                  <a:srgbClr val="23373B"/>
                </a:solidFill>
                <a:latin typeface="Arial"/>
              </a:rPr>
              <a:t>2</a:t>
            </a:r>
            <a:r>
              <a:rPr sz="2000" b="0" i="0">
                <a:solidFill>
                  <a:srgbClr val="23373B"/>
                </a:solidFill>
                <a:latin typeface="Arial"/>
              </a:rPr>
              <a:t> went out as gravitational waves.</a:t>
            </a:r>
            <a:endParaRPr sz="2000"/>
          </a:p>
        </p:txBody>
      </p:sp>
      <p:sp>
        <p:nvSpPr>
          <p:cNvPr id="8" name="TextBox 7"/>
          <p:cNvSpPr txBox="1"/>
          <p:nvPr/>
        </p:nvSpPr>
        <p:spPr>
          <a:xfrm>
            <a:off x="6755892" y="2048256"/>
            <a:ext cx="4933188" cy="676656"/>
          </a:xfrm>
          <a:prstGeom prst="rect">
            <a:avLst/>
          </a:prstGeom>
          <a:noFill/>
        </p:spPr>
        <p:txBody>
          <a:bodyPr wrap="square" anchor="t">
            <a:spAutoFit/>
          </a:bodyPr>
          <a:lstStyle/>
          <a:p>
            <a:pPr algn="l">
              <a:lnSpc>
                <a:spcPct val="120000"/>
              </a:lnSpc>
            </a:pPr>
            <a:r>
              <a:rPr sz="1700" b="0" i="0">
                <a:solidFill>
                  <a:srgbClr val="666666"/>
                </a:solidFill>
                <a:latin typeface="Arial"/>
              </a:rPr>
              <a:t>Peak luminosity 3.6 (+0.5 / −0.4) × 10</a:t>
            </a:r>
            <a:r>
              <a:rPr sz="1700" b="0" i="0" baseline="30000">
                <a:solidFill>
                  <a:srgbClr val="666666"/>
                </a:solidFill>
                <a:latin typeface="Arial"/>
              </a:rPr>
              <a:t>56</a:t>
            </a:r>
            <a:r>
              <a:rPr sz="1700" b="0" i="0">
                <a:solidFill>
                  <a:srgbClr val="666666"/>
                </a:solidFill>
                <a:latin typeface="Arial"/>
              </a:rPr>
              <a:t> erg/s, or 200 M⊙ c</a:t>
            </a:r>
            <a:r>
              <a:rPr sz="1700" b="0" i="0" baseline="30000">
                <a:solidFill>
                  <a:srgbClr val="666666"/>
                </a:solidFill>
                <a:latin typeface="Arial"/>
              </a:rPr>
              <a:t>2</a:t>
            </a:r>
            <a:r>
              <a:rPr sz="1700" b="0" i="0">
                <a:solidFill>
                  <a:srgbClr val="666666"/>
                </a:solidFill>
                <a:latin typeface="Arial"/>
              </a:rPr>
              <a:t> per second.</a:t>
            </a:r>
            <a:endParaRPr sz="1700"/>
          </a:p>
        </p:txBody>
      </p:sp>
      <p:sp>
        <p:nvSpPr>
          <p:cNvPr id="9" name="TextBox 8"/>
          <p:cNvSpPr txBox="1"/>
          <p:nvPr/>
        </p:nvSpPr>
        <p:spPr>
          <a:xfrm>
            <a:off x="6755892" y="2926080"/>
            <a:ext cx="4933188" cy="932687"/>
          </a:xfrm>
          <a:prstGeom prst="rect">
            <a:avLst/>
          </a:prstGeom>
          <a:noFill/>
        </p:spPr>
        <p:txBody>
          <a:bodyPr wrap="square" anchor="t">
            <a:spAutoFit/>
          </a:bodyPr>
          <a:lstStyle/>
          <a:p>
            <a:pPr algn="l">
              <a:lnSpc>
                <a:spcPct val="120000"/>
              </a:lnSpc>
            </a:pPr>
            <a:r>
              <a:rPr sz="1600" b="0" i="0">
                <a:solidFill>
                  <a:srgbClr val="666666"/>
                </a:solidFill>
                <a:latin typeface="Arial"/>
              </a:rPr>
              <a:t>Primary spin below 0.7 (90% credible), so not maximally spinning; the secondary's spin is only weakly constrained.</a:t>
            </a:r>
            <a:endParaRPr sz="16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86384"/>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tIns="109728"/>
          <a:lstStyle/>
          <a:p>
            <a:pPr algn="l"/>
            <a:r>
              <a:rPr sz="2500" b="1" i="0">
                <a:solidFill>
                  <a:srgbClr val="FFFFFF"/>
                </a:solidFill>
                <a:latin typeface="Arial"/>
              </a:rPr>
              <a:t>Does it follow general relativity?</a:t>
            </a:r>
            <a:endParaRPr sz="2500"/>
          </a:p>
        </p:txBody>
      </p:sp>
      <p:sp>
        <p:nvSpPr>
          <p:cNvPr id="3" name="Rectangle 2"/>
          <p:cNvSpPr/>
          <p:nvPr/>
        </p:nvSpPr>
        <p:spPr>
          <a:xfrm>
            <a:off x="0" y="786384"/>
            <a:ext cx="10450285" cy="41148"/>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2t-pagenum"/>
          <p:cNvSpPr txBox="1"/>
          <p:nvPr/>
        </p:nvSpPr>
        <p:spPr>
          <a:xfrm>
            <a:off x="11140440" y="6446520"/>
            <a:ext cx="731520" cy="274320"/>
          </a:xfrm>
          <a:prstGeom prst="rect">
            <a:avLst/>
          </a:prstGeom>
          <a:noFill/>
        </p:spPr>
        <p:txBody>
          <a:bodyPr wrap="square" anchor="t">
            <a:spAutoFit/>
          </a:bodyPr>
          <a:lstStyle/>
          <a:p>
            <a:pPr algn="r">
              <a:lnSpc>
                <a:spcPct val="115000"/>
              </a:lnSpc>
            </a:pPr>
            <a:r>
              <a:rPr sz="1700" b="0" i="0">
                <a:solidFill>
                  <a:srgbClr val="666666"/>
                </a:solidFill>
                <a:latin typeface="Arial"/>
              </a:rPr>
              <a:t>12/14</a:t>
            </a:r>
            <a:endParaRPr sz="1700"/>
          </a:p>
        </p:txBody>
      </p:sp>
      <p:graphicFrame>
        <p:nvGraphicFramePr>
          <p:cNvPr id="5" name="Table 4"/>
          <p:cNvGraphicFramePr>
            <a:graphicFrameLocks noGrp="1"/>
          </p:cNvGraphicFramePr>
          <p:nvPr/>
        </p:nvGraphicFramePr>
        <p:xfrm>
          <a:off x="502920" y="1970150"/>
          <a:ext cx="11186159" cy="2074164"/>
        </p:xfrm>
        <a:graphic>
          <a:graphicData uri="http://schemas.openxmlformats.org/drawingml/2006/table">
            <a:tbl>
              <a:tblPr firstRow="1" bandRow="1"/>
              <a:tblGrid>
                <a:gridCol w="1767933"/>
                <a:gridCol w="5196662"/>
                <a:gridCol w="4221564"/>
              </a:tblGrid>
              <a:tr h="376174">
                <a:tc>
                  <a:txBody>
                    <a:bodyPr/>
                    <a:lstStyle/>
                    <a:p>
                      <a:pPr algn="l"/>
                      <a:r>
                        <a:rPr sz="1900" b="1" i="0">
                          <a:solidFill>
                            <a:srgbClr val="23373B"/>
                          </a:solidFill>
                          <a:latin typeface="Arial"/>
                        </a:rPr>
                        <a:t>Test</a:t>
                      </a:r>
                      <a:endParaRPr sz="1900"/>
                    </a:p>
                  </a:txBody>
                  <a:tcPr marL="91440" marR="91440" anchor="ctr">
                    <a:lnL w="0">
                      <a:noFill/>
                    </a:lnL>
                    <a:lnR w="0">
                      <a:noFill/>
                    </a:lnR>
                    <a:lnT w="15875" cap="flat">
                      <a:solidFill>
                        <a:srgbClr val="23373B"/>
                      </a:solidFill>
                    </a:lnT>
                    <a:lnB w="9525" cap="flat">
                      <a:solidFill>
                        <a:srgbClr val="23373B"/>
                      </a:solidFill>
                    </a:lnB>
                  </a:tcPr>
                </a:tc>
                <a:tc>
                  <a:txBody>
                    <a:bodyPr/>
                    <a:lstStyle/>
                    <a:p>
                      <a:pPr algn="l"/>
                      <a:r>
                        <a:rPr sz="1900" b="1" i="0">
                          <a:solidFill>
                            <a:srgbClr val="23373B"/>
                          </a:solidFill>
                          <a:latin typeface="Arial"/>
                        </a:rPr>
                        <a:t>What it compares</a:t>
                      </a:r>
                      <a:endParaRPr sz="1900"/>
                    </a:p>
                  </a:txBody>
                  <a:tcPr marL="91440" marR="91440" anchor="ctr">
                    <a:lnL w="0">
                      <a:noFill/>
                    </a:lnL>
                    <a:lnR w="0">
                      <a:noFill/>
                    </a:lnR>
                    <a:lnT w="15875" cap="flat">
                      <a:solidFill>
                        <a:srgbClr val="23373B"/>
                      </a:solidFill>
                    </a:lnT>
                    <a:lnB w="9525" cap="flat">
                      <a:solidFill>
                        <a:srgbClr val="23373B"/>
                      </a:solidFill>
                    </a:lnB>
                  </a:tcPr>
                </a:tc>
                <a:tc>
                  <a:txBody>
                    <a:bodyPr/>
                    <a:lstStyle/>
                    <a:p>
                      <a:pPr algn="l"/>
                      <a:r>
                        <a:rPr sz="1900" b="1" i="0">
                          <a:solidFill>
                            <a:srgbClr val="23373B"/>
                          </a:solidFill>
                          <a:latin typeface="Arial"/>
                        </a:rPr>
                        <a:t>Result</a:t>
                      </a:r>
                      <a:endParaRPr sz="1900"/>
                    </a:p>
                  </a:txBody>
                  <a:tcPr marL="91440" marR="91440" anchor="ctr">
                    <a:lnL w="0">
                      <a:noFill/>
                    </a:lnL>
                    <a:lnR w="0">
                      <a:noFill/>
                    </a:lnR>
                    <a:lnT w="15875" cap="flat">
                      <a:solidFill>
                        <a:srgbClr val="23373B"/>
                      </a:solidFill>
                    </a:lnT>
                    <a:lnB w="9525" cap="flat">
                      <a:solidFill>
                        <a:srgbClr val="23373B"/>
                      </a:solidFill>
                    </a:lnB>
                  </a:tcPr>
                </a:tc>
              </a:tr>
              <a:tr h="660908">
                <a:tc>
                  <a:txBody>
                    <a:bodyPr/>
                    <a:lstStyle/>
                    <a:p>
                      <a:pPr algn="l"/>
                      <a:r>
                        <a:rPr sz="1900" b="0" i="0">
                          <a:solidFill>
                            <a:srgbClr val="23373B"/>
                          </a:solidFill>
                          <a:latin typeface="Arial"/>
                        </a:rPr>
                        <a:t>Final black hole</a:t>
                      </a:r>
                      <a:endParaRPr sz="1900"/>
                    </a:p>
                  </a:txBody>
                  <a:tcPr marL="91440" marR="91440" anchor="ctr">
                    <a:lnL w="0">
                      <a:noFill/>
                    </a:lnL>
                    <a:lnR w="0">
                      <a:noFill/>
                    </a:lnR>
                    <a:lnT w="0">
                      <a:noFill/>
                    </a:lnT>
                    <a:lnB w="0">
                      <a:noFill/>
                    </a:lnB>
                  </a:tcPr>
                </a:tc>
                <a:tc>
                  <a:txBody>
                    <a:bodyPr/>
                    <a:lstStyle/>
                    <a:p>
                      <a:pPr algn="l"/>
                      <a:r>
                        <a:rPr sz="1900" b="0" i="0">
                          <a:solidFill>
                            <a:srgbClr val="23373B"/>
                          </a:solidFill>
                          <a:latin typeface="Arial"/>
                        </a:rPr>
                        <a:t>mass and spin from the early stage vs. the late stage</a:t>
                      </a:r>
                      <a:endParaRPr sz="1900"/>
                    </a:p>
                  </a:txBody>
                  <a:tcPr marL="91440" marR="91440" anchor="ctr">
                    <a:lnL w="0">
                      <a:noFill/>
                    </a:lnL>
                    <a:lnR w="0">
                      <a:noFill/>
                    </a:lnR>
                    <a:lnT w="0">
                      <a:noFill/>
                    </a:lnT>
                    <a:lnB w="0">
                      <a:noFill/>
                    </a:lnB>
                  </a:tcPr>
                </a:tc>
                <a:tc>
                  <a:txBody>
                    <a:bodyPr/>
                    <a:lstStyle/>
                    <a:p>
                      <a:pPr algn="l"/>
                      <a:r>
                        <a:rPr sz="1900" b="0" i="0">
                          <a:solidFill>
                            <a:srgbClr val="23373B"/>
                          </a:solidFill>
                          <a:latin typeface="Arial"/>
                        </a:rPr>
                        <a:t>consistent</a:t>
                      </a:r>
                      <a:endParaRPr sz="1900"/>
                    </a:p>
                  </a:txBody>
                  <a:tcPr marL="91440" marR="91440" anchor="ctr">
                    <a:lnL w="0">
                      <a:noFill/>
                    </a:lnL>
                    <a:lnR w="0">
                      <a:noFill/>
                    </a:lnR>
                    <a:lnT w="0">
                      <a:noFill/>
                    </a:lnT>
                    <a:lnB w="0">
                      <a:noFill/>
                    </a:lnB>
                  </a:tcPr>
                </a:tc>
              </a:tr>
              <a:tr h="376174">
                <a:tc>
                  <a:txBody>
                    <a:bodyPr/>
                    <a:lstStyle/>
                    <a:p>
                      <a:pPr algn="l"/>
                      <a:r>
                        <a:rPr sz="1900" b="0" i="0">
                          <a:solidFill>
                            <a:srgbClr val="23373B"/>
                          </a:solidFill>
                          <a:latin typeface="Arial"/>
                        </a:rPr>
                        <a:t>Inspiral phase</a:t>
                      </a:r>
                      <a:endParaRPr sz="1900"/>
                    </a:p>
                  </a:txBody>
                  <a:tcPr marL="91440" marR="91440" anchor="ctr">
                    <a:lnL w="0">
                      <a:noFill/>
                    </a:lnL>
                    <a:lnR w="0">
                      <a:noFill/>
                    </a:lnR>
                    <a:lnT w="0">
                      <a:noFill/>
                    </a:lnT>
                    <a:lnB w="0">
                      <a:noFill/>
                    </a:lnB>
                  </a:tcPr>
                </a:tc>
                <a:tc>
                  <a:txBody>
                    <a:bodyPr/>
                    <a:lstStyle/>
                    <a:p>
                      <a:pPr algn="l"/>
                      <a:r>
                        <a:rPr sz="1900" b="0" i="0">
                          <a:solidFill>
                            <a:srgbClr val="23373B"/>
                          </a:solidFill>
                          <a:latin typeface="Arial"/>
                        </a:rPr>
                        <a:t>post-Newtonian coefficients allowed to deviate</a:t>
                      </a:r>
                      <a:endParaRPr sz="1900"/>
                    </a:p>
                  </a:txBody>
                  <a:tcPr marL="91440" marR="91440" anchor="ctr">
                    <a:lnL w="0">
                      <a:noFill/>
                    </a:lnL>
                    <a:lnR w="0">
                      <a:noFill/>
                    </a:lnR>
                    <a:lnT w="0">
                      <a:noFill/>
                    </a:lnT>
                    <a:lnB w="0">
                      <a:noFill/>
                    </a:lnB>
                  </a:tcPr>
                </a:tc>
                <a:tc>
                  <a:txBody>
                    <a:bodyPr/>
                    <a:lstStyle/>
                    <a:p>
                      <a:pPr algn="l"/>
                      <a:r>
                        <a:rPr sz="1900" b="0" i="0">
                          <a:solidFill>
                            <a:srgbClr val="23373B"/>
                          </a:solidFill>
                          <a:latin typeface="Arial"/>
                        </a:rPr>
                        <a:t>no evidence of violation</a:t>
                      </a:r>
                      <a:endParaRPr sz="1900"/>
                    </a:p>
                  </a:txBody>
                  <a:tcPr marL="91440" marR="91440" anchor="ctr">
                    <a:lnL w="0">
                      <a:noFill/>
                    </a:lnL>
                    <a:lnR w="0">
                      <a:noFill/>
                    </a:lnR>
                    <a:lnT w="0">
                      <a:noFill/>
                    </a:lnT>
                    <a:lnB w="0">
                      <a:noFill/>
                    </a:lnB>
                  </a:tcPr>
                </a:tc>
              </a:tr>
              <a:tr h="660908">
                <a:tc>
                  <a:txBody>
                    <a:bodyPr/>
                    <a:lstStyle/>
                    <a:p>
                      <a:pPr algn="l"/>
                      <a:r>
                        <a:rPr sz="1900" b="0" i="0">
                          <a:solidFill>
                            <a:srgbClr val="23373B"/>
                          </a:solidFill>
                          <a:latin typeface="Arial"/>
                        </a:rPr>
                        <a:t>Graviton</a:t>
                      </a:r>
                      <a:endParaRPr sz="1900"/>
                    </a:p>
                  </a:txBody>
                  <a:tcPr marL="91440" marR="91440" anchor="ctr">
                    <a:lnL w="0">
                      <a:noFill/>
                    </a:lnL>
                    <a:lnR w="0">
                      <a:noFill/>
                    </a:lnR>
                    <a:lnT w="0">
                      <a:noFill/>
                    </a:lnT>
                    <a:lnB w="15875" cap="flat">
                      <a:solidFill>
                        <a:srgbClr val="23373B"/>
                      </a:solidFill>
                    </a:lnB>
                  </a:tcPr>
                </a:tc>
                <a:tc>
                  <a:txBody>
                    <a:bodyPr/>
                    <a:lstStyle/>
                    <a:p>
                      <a:pPr algn="l"/>
                      <a:r>
                        <a:rPr sz="1900" b="0" i="0">
                          <a:solidFill>
                            <a:srgbClr val="23373B"/>
                          </a:solidFill>
                          <a:latin typeface="Arial"/>
                        </a:rPr>
                        <a:t>a modified dispersion relation</a:t>
                      </a:r>
                      <a:endParaRPr sz="1900"/>
                    </a:p>
                  </a:txBody>
                  <a:tcPr marL="91440" marR="91440" anchor="ctr">
                    <a:lnL w="0">
                      <a:noFill/>
                    </a:lnL>
                    <a:lnR w="0">
                      <a:noFill/>
                    </a:lnR>
                    <a:lnT w="0">
                      <a:noFill/>
                    </a:lnT>
                    <a:lnB w="15875" cap="flat">
                      <a:solidFill>
                        <a:srgbClr val="23373B"/>
                      </a:solidFill>
                    </a:lnB>
                  </a:tcPr>
                </a:tc>
                <a:tc>
                  <a:txBody>
                    <a:bodyPr/>
                    <a:lstStyle/>
                    <a:p>
                      <a:pPr algn="l"/>
                      <a:r>
                        <a:rPr sz="1900" b="0" i="0">
                          <a:solidFill>
                            <a:srgbClr val="23373B"/>
                          </a:solidFill>
                          <a:latin typeface="Arial"/>
                        </a:rPr>
                        <a:t>λ</a:t>
                      </a:r>
                      <a:r>
                        <a:rPr sz="1900" b="0" i="0" baseline="-25000">
                          <a:solidFill>
                            <a:srgbClr val="23373B"/>
                          </a:solidFill>
                          <a:latin typeface="Arial"/>
                        </a:rPr>
                        <a:t>g</a:t>
                      </a:r>
                      <a:r>
                        <a:rPr sz="1900" b="0" i="0">
                          <a:solidFill>
                            <a:srgbClr val="23373B"/>
                          </a:solidFill>
                          <a:latin typeface="Arial"/>
                        </a:rPr>
                        <a:t> &gt; 10</a:t>
                      </a:r>
                      <a:r>
                        <a:rPr sz="1900" b="0" i="0" baseline="30000">
                          <a:solidFill>
                            <a:srgbClr val="23373B"/>
                          </a:solidFill>
                          <a:latin typeface="Arial"/>
                        </a:rPr>
                        <a:t>13</a:t>
                      </a:r>
                      <a:r>
                        <a:rPr sz="1900" b="0" i="0">
                          <a:solidFill>
                            <a:srgbClr val="23373B"/>
                          </a:solidFill>
                          <a:latin typeface="Arial"/>
                        </a:rPr>
                        <a:t> km, so m</a:t>
                      </a:r>
                      <a:r>
                        <a:rPr sz="1900" b="0" i="0" baseline="-25000">
                          <a:solidFill>
                            <a:srgbClr val="23373B"/>
                          </a:solidFill>
                          <a:latin typeface="Arial"/>
                        </a:rPr>
                        <a:t>g</a:t>
                      </a:r>
                      <a:r>
                        <a:rPr sz="1900" b="0" i="0">
                          <a:solidFill>
                            <a:srgbClr val="23373B"/>
                          </a:solidFill>
                          <a:latin typeface="Arial"/>
                        </a:rPr>
                        <a:t> &lt; 1.2×10</a:t>
                      </a:r>
                      <a:r>
                        <a:rPr sz="1900" b="0" i="0" baseline="30000">
                          <a:solidFill>
                            <a:srgbClr val="23373B"/>
                          </a:solidFill>
                          <a:latin typeface="Arial"/>
                        </a:rPr>
                        <a:t>-22</a:t>
                      </a:r>
                      <a:r>
                        <a:rPr sz="1900" b="0" i="0">
                          <a:solidFill>
                            <a:srgbClr val="23373B"/>
                          </a:solidFill>
                          <a:latin typeface="Arial"/>
                        </a:rPr>
                        <a:t> eV/c</a:t>
                      </a:r>
                      <a:r>
                        <a:rPr sz="1900" b="0" i="0" baseline="30000">
                          <a:solidFill>
                            <a:srgbClr val="23373B"/>
                          </a:solidFill>
                          <a:latin typeface="Arial"/>
                        </a:rPr>
                        <a:t>2</a:t>
                      </a:r>
                      <a:endParaRPr sz="1900"/>
                    </a:p>
                  </a:txBody>
                  <a:tcPr marL="91440" marR="91440" anchor="ctr">
                    <a:lnL w="0">
                      <a:noFill/>
                    </a:lnL>
                    <a:lnR w="0">
                      <a:noFill/>
                    </a:lnR>
                    <a:lnT w="0">
                      <a:noFill/>
                    </a:lnT>
                    <a:lnB w="15875" cap="flat">
                      <a:solidFill>
                        <a:srgbClr val="23373B"/>
                      </a:solidFill>
                    </a:lnB>
                  </a:tcPr>
                </a:tc>
              </a:tr>
            </a:tbl>
          </a:graphicData>
        </a:graphic>
      </p:graphicFrame>
      <p:sp>
        <p:nvSpPr>
          <p:cNvPr id="6" name="TextBox 5"/>
          <p:cNvSpPr txBox="1"/>
          <p:nvPr/>
        </p:nvSpPr>
        <p:spPr>
          <a:xfrm>
            <a:off x="502920" y="4099178"/>
            <a:ext cx="11186160" cy="457200"/>
          </a:xfrm>
          <a:prstGeom prst="rect">
            <a:avLst/>
          </a:prstGeom>
          <a:noFill/>
        </p:spPr>
        <p:txBody>
          <a:bodyPr wrap="square" anchor="t">
            <a:spAutoFit/>
          </a:bodyPr>
          <a:lstStyle/>
          <a:p>
            <a:pPr algn="l">
              <a:lnSpc>
                <a:spcPct val="115000"/>
              </a:lnSpc>
            </a:pPr>
            <a:r>
              <a:rPr sz="1700" b="0" i="0">
                <a:solidFill>
                  <a:srgbClr val="666666"/>
                </a:solidFill>
                <a:latin typeface="Arial"/>
              </a:rPr>
              <a:t>The graviton bound beats Solar System and binary pulsar bounds, but not those from galaxy clusters and weak lensing.</a:t>
            </a:r>
            <a:endParaRPr sz="1700"/>
          </a:p>
        </p:txBody>
      </p:sp>
      <p:sp>
        <p:nvSpPr>
          <p:cNvPr id="7" name="TextBox 6"/>
          <p:cNvSpPr txBox="1"/>
          <p:nvPr/>
        </p:nvSpPr>
        <p:spPr>
          <a:xfrm>
            <a:off x="502920" y="4938902"/>
            <a:ext cx="11186160" cy="378714"/>
          </a:xfrm>
          <a:prstGeom prst="rect">
            <a:avLst/>
          </a:prstGeom>
          <a:noFill/>
        </p:spPr>
        <p:txBody>
          <a:bodyPr wrap="square" anchor="t">
            <a:spAutoFit/>
          </a:bodyPr>
          <a:lstStyle/>
          <a:p>
            <a:pPr algn="l">
              <a:lnSpc>
                <a:spcPct val="125000"/>
              </a:lnSpc>
            </a:pPr>
            <a:r>
              <a:rPr sz="1700" b="0" i="0">
                <a:solidFill>
                  <a:srgbClr val="666666"/>
                </a:solidFill>
                <a:latin typeface="Arial"/>
              </a:rPr>
              <a:t>All three tests are </a:t>
            </a:r>
            <a:r>
              <a:rPr sz="1700" b="1" i="0">
                <a:solidFill>
                  <a:srgbClr val="666666"/>
                </a:solidFill>
                <a:latin typeface="Arial"/>
              </a:rPr>
              <a:t>consistent with general relativity</a:t>
            </a:r>
            <a:r>
              <a:rPr sz="1700" b="0" i="0">
                <a:solidFill>
                  <a:srgbClr val="666666"/>
                </a:solidFill>
                <a:latin typeface="Arial"/>
              </a:rPr>
              <a:t> in the strong-field regime.</a:t>
            </a:r>
            <a:endParaRPr sz="170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86384"/>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tIns="109728"/>
          <a:lstStyle/>
          <a:p>
            <a:pPr algn="l"/>
            <a:r>
              <a:rPr sz="2500" b="1" i="0">
                <a:solidFill>
                  <a:srgbClr val="FFFFFF"/>
                </a:solidFill>
                <a:latin typeface="Arial"/>
              </a:rPr>
              <a:t>What the black holes tell us</a:t>
            </a:r>
            <a:endParaRPr sz="2500"/>
          </a:p>
        </p:txBody>
      </p:sp>
      <p:sp>
        <p:nvSpPr>
          <p:cNvPr id="3" name="Rectangle 2"/>
          <p:cNvSpPr/>
          <p:nvPr/>
        </p:nvSpPr>
        <p:spPr>
          <a:xfrm>
            <a:off x="0" y="786384"/>
            <a:ext cx="11321142" cy="41148"/>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2t-pagenum"/>
          <p:cNvSpPr txBox="1"/>
          <p:nvPr/>
        </p:nvSpPr>
        <p:spPr>
          <a:xfrm>
            <a:off x="11140440" y="6446520"/>
            <a:ext cx="731520" cy="274320"/>
          </a:xfrm>
          <a:prstGeom prst="rect">
            <a:avLst/>
          </a:prstGeom>
          <a:noFill/>
        </p:spPr>
        <p:txBody>
          <a:bodyPr wrap="square" anchor="t">
            <a:spAutoFit/>
          </a:bodyPr>
          <a:lstStyle/>
          <a:p>
            <a:pPr algn="r">
              <a:lnSpc>
                <a:spcPct val="115000"/>
              </a:lnSpc>
            </a:pPr>
            <a:r>
              <a:rPr sz="1700" b="0" i="0">
                <a:solidFill>
                  <a:srgbClr val="666666"/>
                </a:solidFill>
                <a:latin typeface="Arial"/>
              </a:rPr>
              <a:t>13/14</a:t>
            </a:r>
            <a:endParaRPr sz="1700"/>
          </a:p>
        </p:txBody>
      </p:sp>
      <p:sp>
        <p:nvSpPr>
          <p:cNvPr id="5" name="TextBox 4"/>
          <p:cNvSpPr txBox="1"/>
          <p:nvPr/>
        </p:nvSpPr>
        <p:spPr>
          <a:xfrm>
            <a:off x="502920" y="2564891"/>
            <a:ext cx="11186160" cy="982980"/>
          </a:xfrm>
          <a:prstGeom prst="rect">
            <a:avLst/>
          </a:prstGeom>
          <a:noFill/>
        </p:spPr>
        <p:txBody>
          <a:bodyPr wrap="square" anchor="t">
            <a:spAutoFit/>
          </a:bodyPr>
          <a:lstStyle/>
          <a:p>
            <a:pPr algn="l" marL="165354" indent="-165354">
              <a:lnSpc>
                <a:spcPct val="145000"/>
              </a:lnSpc>
            </a:pPr>
            <a:r>
              <a:rPr sz="2100" b="0" i="0">
                <a:solidFill>
                  <a:srgbClr val="23373B"/>
                </a:solidFill>
                <a:latin typeface="Arial"/>
              </a:rPr>
              <a:t>• Stellar-mass black holes </a:t>
            </a:r>
            <a:r>
              <a:rPr sz="2100" b="1" i="0">
                <a:solidFill>
                  <a:srgbClr val="23373B"/>
                </a:solidFill>
                <a:latin typeface="Arial"/>
              </a:rPr>
              <a:t>heavier than about 25 solar masses exist</a:t>
            </a:r>
            <a:r>
              <a:rPr sz="2100" b="0" i="0">
                <a:solidFill>
                  <a:srgbClr val="23373B"/>
                </a:solidFill>
                <a:latin typeface="Arial"/>
              </a:rPr>
              <a:t>, and binary black holes </a:t>
            </a:r>
            <a:r>
              <a:rPr sz="2100" b="1" i="0">
                <a:solidFill>
                  <a:srgbClr val="23373B"/>
                </a:solidFill>
                <a:latin typeface="Arial"/>
              </a:rPr>
              <a:t>form in nature and merge within a Hubble time</a:t>
            </a:r>
            <a:r>
              <a:rPr sz="2100" b="0" i="0">
                <a:solidFill>
                  <a:srgbClr val="23373B"/>
                </a:solidFill>
                <a:latin typeface="Arial"/>
              </a:rPr>
              <a:t>.</a:t>
            </a:r>
            <a:endParaRPr sz="2100"/>
          </a:p>
        </p:txBody>
      </p:sp>
      <p:sp>
        <p:nvSpPr>
          <p:cNvPr id="6" name="TextBox 5"/>
          <p:cNvSpPr txBox="1"/>
          <p:nvPr/>
        </p:nvSpPr>
        <p:spPr>
          <a:xfrm>
            <a:off x="502920" y="5180076"/>
            <a:ext cx="11186160" cy="702564"/>
          </a:xfrm>
          <a:prstGeom prst="rect">
            <a:avLst/>
          </a:prstGeom>
          <a:noFill/>
        </p:spPr>
        <p:txBody>
          <a:bodyPr wrap="square" anchor="t">
            <a:spAutoFit/>
          </a:bodyPr>
          <a:lstStyle/>
          <a:p>
            <a:pPr algn="l">
              <a:lnSpc>
                <a:spcPct val="125000"/>
              </a:lnSpc>
            </a:pPr>
            <a:r>
              <a:rPr sz="1700" b="0" i="0">
                <a:solidFill>
                  <a:srgbClr val="666666"/>
                </a:solidFill>
                <a:latin typeface="Arial"/>
              </a:rPr>
              <a:t>Merger rate: </a:t>
            </a:r>
            <a:r>
              <a:rPr sz="1700" b="1" i="0">
                <a:solidFill>
                  <a:srgbClr val="666666"/>
                </a:solidFill>
                <a:latin typeface="Arial"/>
              </a:rPr>
              <a:t>2 to 400 per Gpc</a:t>
            </a:r>
            <a:r>
              <a:rPr sz="1700" b="1" i="0" baseline="30000">
                <a:solidFill>
                  <a:srgbClr val="666666"/>
                </a:solidFill>
                <a:latin typeface="Arial"/>
              </a:rPr>
              <a:t>3</a:t>
            </a:r>
            <a:r>
              <a:rPr sz="1700" b="1" i="0">
                <a:solidFill>
                  <a:srgbClr val="666666"/>
                </a:solidFill>
                <a:latin typeface="Arial"/>
              </a:rPr>
              <a:t> per year</a:t>
            </a:r>
            <a:r>
              <a:rPr sz="1700" b="0" i="0">
                <a:solidFill>
                  <a:srgbClr val="666666"/>
                </a:solidFill>
                <a:latin typeface="Arial"/>
              </a:rPr>
              <a:t>, depending on the mass model; only the lowest predicted rates are excluded.</a:t>
            </a:r>
            <a:endParaRPr sz="1700"/>
          </a:p>
        </p:txBody>
      </p:sp>
      <p:sp>
        <p:nvSpPr>
          <p:cNvPr id="7" name="TextBox 6"/>
          <p:cNvSpPr txBox="1"/>
          <p:nvPr/>
        </p:nvSpPr>
        <p:spPr>
          <a:xfrm>
            <a:off x="502920" y="5955792"/>
            <a:ext cx="11186160" cy="335280"/>
          </a:xfrm>
          <a:prstGeom prst="rect">
            <a:avLst/>
          </a:prstGeom>
          <a:noFill/>
        </p:spPr>
        <p:txBody>
          <a:bodyPr wrap="square" anchor="t">
            <a:spAutoFit/>
          </a:bodyPr>
          <a:lstStyle/>
          <a:p>
            <a:pPr algn="l">
              <a:lnSpc>
                <a:spcPct val="115000"/>
              </a:lnSpc>
            </a:pPr>
            <a:r>
              <a:rPr sz="1600" b="0" i="0">
                <a:solidFill>
                  <a:srgbClr val="666666"/>
                </a:solidFill>
                <a:latin typeface="Arial"/>
              </a:rPr>
              <a:t>Forming such heavy black holes from stars requires weak stellar winds, possible below about half the solar metallicity.</a:t>
            </a:r>
            <a:endParaRPr sz="160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86384"/>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tIns="109728"/>
          <a:lstStyle/>
          <a:p>
            <a:pPr algn="l"/>
            <a:r>
              <a:rPr sz="2500" b="1" i="0">
                <a:solidFill>
                  <a:srgbClr val="FFFFFF"/>
                </a:solidFill>
                <a:latin typeface="Arial"/>
              </a:rPr>
              <a:t>What two detectors cannot tell us yet</a:t>
            </a:r>
            <a:endParaRPr sz="2500"/>
          </a:p>
        </p:txBody>
      </p:sp>
      <p:sp>
        <p:nvSpPr>
          <p:cNvPr id="3" name="Rectangle 2"/>
          <p:cNvSpPr/>
          <p:nvPr/>
        </p:nvSpPr>
        <p:spPr>
          <a:xfrm>
            <a:off x="0" y="786384"/>
            <a:ext cx="12192000" cy="41148"/>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2t-pagenum"/>
          <p:cNvSpPr txBox="1"/>
          <p:nvPr/>
        </p:nvSpPr>
        <p:spPr>
          <a:xfrm>
            <a:off x="11140440" y="6446520"/>
            <a:ext cx="731520" cy="274320"/>
          </a:xfrm>
          <a:prstGeom prst="rect">
            <a:avLst/>
          </a:prstGeom>
          <a:noFill/>
        </p:spPr>
        <p:txBody>
          <a:bodyPr wrap="square" anchor="t">
            <a:spAutoFit/>
          </a:bodyPr>
          <a:lstStyle/>
          <a:p>
            <a:pPr algn="r">
              <a:lnSpc>
                <a:spcPct val="115000"/>
              </a:lnSpc>
            </a:pPr>
            <a:r>
              <a:rPr sz="1700" b="0" i="0">
                <a:solidFill>
                  <a:srgbClr val="666666"/>
                </a:solidFill>
                <a:latin typeface="Arial"/>
              </a:rPr>
              <a:t>14/14</a:t>
            </a:r>
            <a:endParaRPr sz="1700"/>
          </a:p>
        </p:txBody>
      </p:sp>
      <p:sp>
        <p:nvSpPr>
          <p:cNvPr id="5" name="TextBox 4"/>
          <p:cNvSpPr txBox="1"/>
          <p:nvPr/>
        </p:nvSpPr>
        <p:spPr>
          <a:xfrm>
            <a:off x="502920" y="932688"/>
            <a:ext cx="5492496" cy="416814"/>
          </a:xfrm>
          <a:prstGeom prst="rect">
            <a:avLst/>
          </a:prstGeom>
          <a:noFill/>
        </p:spPr>
        <p:txBody>
          <a:bodyPr wrap="square" anchor="t">
            <a:spAutoFit/>
          </a:bodyPr>
          <a:lstStyle/>
          <a:p>
            <a:pPr algn="l">
              <a:lnSpc>
                <a:spcPct val="115000"/>
              </a:lnSpc>
            </a:pPr>
            <a:r>
              <a:rPr sz="1900" b="1" i="0">
                <a:solidFill>
                  <a:srgbClr val="23373B"/>
                </a:solidFill>
                <a:latin typeface="Arial"/>
              </a:rPr>
              <a:t>Limits</a:t>
            </a:r>
            <a:endParaRPr sz="1900"/>
          </a:p>
        </p:txBody>
      </p:sp>
      <p:sp>
        <p:nvSpPr>
          <p:cNvPr id="6" name="TextBox 5"/>
          <p:cNvSpPr txBox="1"/>
          <p:nvPr/>
        </p:nvSpPr>
        <p:spPr>
          <a:xfrm>
            <a:off x="502920" y="1404366"/>
            <a:ext cx="5492496" cy="2633472"/>
          </a:xfrm>
          <a:prstGeom prst="rect">
            <a:avLst/>
          </a:prstGeom>
          <a:noFill/>
        </p:spPr>
        <p:txBody>
          <a:bodyPr wrap="square" anchor="t">
            <a:spAutoFit/>
          </a:bodyPr>
          <a:lstStyle/>
          <a:p>
            <a:pPr algn="l" marL="157480" indent="-157480">
              <a:lnSpc>
                <a:spcPct val="135000"/>
              </a:lnSpc>
            </a:pPr>
            <a:r>
              <a:rPr sz="2000" b="0" i="0">
                <a:solidFill>
                  <a:srgbClr val="23373B"/>
                </a:solidFill>
                <a:latin typeface="Arial"/>
              </a:rPr>
              <a:t>• With only two detectors the source is localized to about </a:t>
            </a:r>
            <a:r>
              <a:rPr sz="2000" b="1" i="0">
                <a:solidFill>
                  <a:srgbClr val="23373B"/>
                </a:solidFill>
                <a:latin typeface="Arial"/>
              </a:rPr>
              <a:t>600 deg</a:t>
            </a:r>
            <a:r>
              <a:rPr sz="2000" b="1" i="0" baseline="30000">
                <a:solidFill>
                  <a:srgbClr val="23373B"/>
                </a:solidFill>
                <a:latin typeface="Arial"/>
              </a:rPr>
              <a:t>2</a:t>
            </a:r>
            <a:r>
              <a:rPr sz="2000" b="0" i="0">
                <a:solidFill>
                  <a:srgbClr val="23373B"/>
                </a:solidFill>
                <a:latin typeface="Arial"/>
              </a:rPr>
              <a:t>.</a:t>
            </a:r>
            <a:endParaRPr sz="2000"/>
          </a:p>
          <a:p>
            <a:pPr algn="l" marL="157480" indent="-157480">
              <a:lnSpc>
                <a:spcPct val="135000"/>
              </a:lnSpc>
            </a:pPr>
            <a:r>
              <a:rPr sz="2000" b="0" i="0">
                <a:solidFill>
                  <a:srgbClr val="23373B"/>
                </a:solidFill>
                <a:latin typeface="Arial"/>
              </a:rPr>
              <a:t>• The secondary black hole's spin is only </a:t>
            </a:r>
            <a:r>
              <a:rPr sz="2000" b="1" i="0">
                <a:solidFill>
                  <a:srgbClr val="23373B"/>
                </a:solidFill>
                <a:latin typeface="Arial"/>
              </a:rPr>
              <a:t>weakly constrained</a:t>
            </a:r>
            <a:r>
              <a:rPr sz="2000" b="0" i="0">
                <a:solidFill>
                  <a:srgbClr val="23373B"/>
                </a:solidFill>
                <a:latin typeface="Arial"/>
              </a:rPr>
              <a:t>.</a:t>
            </a:r>
            <a:endParaRPr sz="2000"/>
          </a:p>
          <a:p>
            <a:pPr algn="l" marL="157480" indent="-157480">
              <a:lnSpc>
                <a:spcPct val="135000"/>
              </a:lnSpc>
            </a:pPr>
            <a:r>
              <a:rPr sz="2000" b="0" i="0">
                <a:solidFill>
                  <a:srgbClr val="23373B"/>
                </a:solidFill>
                <a:latin typeface="Arial"/>
              </a:rPr>
              <a:t>• These are </a:t>
            </a:r>
            <a:r>
              <a:rPr sz="2000" b="1" i="0">
                <a:solidFill>
                  <a:srgbClr val="23373B"/>
                </a:solidFill>
                <a:latin typeface="Arial"/>
              </a:rPr>
              <a:t>16 days</a:t>
            </a:r>
            <a:r>
              <a:rPr sz="2000" b="0" i="0">
                <a:solidFill>
                  <a:srgbClr val="23373B"/>
                </a:solidFill>
                <a:latin typeface="Arial"/>
              </a:rPr>
              <a:t> of data; the full first run is reported later.</a:t>
            </a:r>
            <a:endParaRPr sz="2000"/>
          </a:p>
        </p:txBody>
      </p:sp>
      <p:sp>
        <p:nvSpPr>
          <p:cNvPr id="7" name="TextBox 6"/>
          <p:cNvSpPr txBox="1"/>
          <p:nvPr/>
        </p:nvSpPr>
        <p:spPr>
          <a:xfrm>
            <a:off x="6196584" y="932688"/>
            <a:ext cx="5492496" cy="416814"/>
          </a:xfrm>
          <a:prstGeom prst="rect">
            <a:avLst/>
          </a:prstGeom>
          <a:noFill/>
        </p:spPr>
        <p:txBody>
          <a:bodyPr wrap="square" anchor="t">
            <a:spAutoFit/>
          </a:bodyPr>
          <a:lstStyle/>
          <a:p>
            <a:pPr algn="l">
              <a:lnSpc>
                <a:spcPct val="115000"/>
              </a:lnSpc>
            </a:pPr>
            <a:r>
              <a:rPr sz="1900" b="1" i="0">
                <a:solidFill>
                  <a:srgbClr val="23373B"/>
                </a:solidFill>
                <a:latin typeface="Arial"/>
              </a:rPr>
              <a:t>Next</a:t>
            </a:r>
            <a:endParaRPr sz="1900"/>
          </a:p>
        </p:txBody>
      </p:sp>
      <p:sp>
        <p:nvSpPr>
          <p:cNvPr id="8" name="TextBox 7"/>
          <p:cNvSpPr txBox="1"/>
          <p:nvPr/>
        </p:nvSpPr>
        <p:spPr>
          <a:xfrm>
            <a:off x="6196584" y="1404366"/>
            <a:ext cx="5492496" cy="2167128"/>
          </a:xfrm>
          <a:prstGeom prst="rect">
            <a:avLst/>
          </a:prstGeom>
          <a:noFill/>
        </p:spPr>
        <p:txBody>
          <a:bodyPr wrap="square" anchor="t">
            <a:spAutoFit/>
          </a:bodyPr>
          <a:lstStyle/>
          <a:p>
            <a:pPr algn="l" marL="157480" indent="-157480">
              <a:lnSpc>
                <a:spcPct val="135000"/>
              </a:lnSpc>
            </a:pPr>
            <a:r>
              <a:rPr sz="2000" b="0" i="0">
                <a:solidFill>
                  <a:srgbClr val="23373B"/>
                </a:solidFill>
                <a:latin typeface="Arial"/>
              </a:rPr>
              <a:t>• Design sensitivity: binaries like this one at </a:t>
            </a:r>
            <a:r>
              <a:rPr sz="2000" b="1" i="0">
                <a:solidFill>
                  <a:srgbClr val="23373B"/>
                </a:solidFill>
                <a:latin typeface="Arial"/>
              </a:rPr>
              <a:t>3 times</a:t>
            </a:r>
            <a:r>
              <a:rPr sz="2000" b="0" i="0">
                <a:solidFill>
                  <a:srgbClr val="23373B"/>
                </a:solidFill>
                <a:latin typeface="Arial"/>
              </a:rPr>
              <a:t> the SNR.</a:t>
            </a:r>
            <a:endParaRPr sz="2000"/>
          </a:p>
          <a:p>
            <a:pPr algn="l" marL="157480" indent="-157480">
              <a:lnSpc>
                <a:spcPct val="135000"/>
              </a:lnSpc>
            </a:pPr>
            <a:r>
              <a:rPr sz="2000" b="0" i="0">
                <a:solidFill>
                  <a:srgbClr val="23373B"/>
                </a:solidFill>
                <a:latin typeface="Arial"/>
              </a:rPr>
              <a:t>• Advanced Virgo, KAGRA and a possible LIGO detector in India improve position and parameters.</a:t>
            </a:r>
            <a:endParaRPr sz="200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830068"/>
            <a:ext cx="11186160" cy="1197864"/>
          </a:xfrm>
          <a:prstGeom prst="rect">
            <a:avLst/>
          </a:prstGeom>
          <a:noFill/>
        </p:spPr>
        <p:txBody>
          <a:bodyPr wrap="square" anchor="t">
            <a:spAutoFit/>
          </a:bodyPr>
          <a:lstStyle/>
          <a:p>
            <a:pPr algn="ctr">
              <a:lnSpc>
                <a:spcPct val="115000"/>
              </a:lnSpc>
            </a:pPr>
            <a:r>
              <a:rPr sz="3000" b="1" i="0">
                <a:solidFill>
                  <a:srgbClr val="FFFFFF"/>
                </a:solidFill>
                <a:latin typeface="Arial"/>
              </a:rPr>
              <a:t>The first direct detection of gravitational waves, and the first observation of a binary black hole merger.</a:t>
            </a:r>
            <a:endParaRPr sz="300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86384"/>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tIns="109728"/>
          <a:lstStyle/>
          <a:p>
            <a:pPr algn="l"/>
            <a:r>
              <a:rPr sz="2500" b="1" i="0">
                <a:solidFill>
                  <a:srgbClr val="FFFFFF"/>
                </a:solidFill>
                <a:latin typeface="Arial"/>
              </a:rPr>
              <a:t>Backup: every search puts GW150914 above 4.4 sigma</a:t>
            </a:r>
            <a:endParaRPr sz="2500"/>
          </a:p>
        </p:txBody>
      </p:sp>
      <p:graphicFrame>
        <p:nvGraphicFramePr>
          <p:cNvPr id="3" name="Table 2"/>
          <p:cNvGraphicFramePr>
            <a:graphicFrameLocks noGrp="1"/>
          </p:cNvGraphicFramePr>
          <p:nvPr/>
        </p:nvGraphicFramePr>
        <p:xfrm>
          <a:off x="502920" y="2522347"/>
          <a:ext cx="11186159" cy="1731010"/>
        </p:xfrm>
        <a:graphic>
          <a:graphicData uri="http://schemas.openxmlformats.org/drawingml/2006/table">
            <a:tbl>
              <a:tblPr firstRow="1" bandRow="1"/>
              <a:tblGrid>
                <a:gridCol w="2479315"/>
                <a:gridCol w="1380384"/>
                <a:gridCol w="2202963"/>
                <a:gridCol w="2010812"/>
                <a:gridCol w="1477539"/>
                <a:gridCol w="1635146"/>
              </a:tblGrid>
              <a:tr h="346202">
                <a:tc>
                  <a:txBody>
                    <a:bodyPr/>
                    <a:lstStyle/>
                    <a:p>
                      <a:pPr algn="l"/>
                      <a:r>
                        <a:rPr sz="1700" b="1" i="0">
                          <a:solidFill>
                            <a:srgbClr val="23373B"/>
                          </a:solidFill>
                          <a:latin typeface="Arial"/>
                        </a:rPr>
                        <a:t>Search</a:t>
                      </a:r>
                      <a:endParaRPr sz="1700"/>
                    </a:p>
                  </a:txBody>
                  <a:tcPr marL="91440" marR="91440" anchor="ctr">
                    <a:lnL w="0">
                      <a:noFill/>
                    </a:lnL>
                    <a:lnR w="0">
                      <a:noFill/>
                    </a:lnR>
                    <a:lnT w="15875" cap="flat">
                      <a:solidFill>
                        <a:srgbClr val="23373B"/>
                      </a:solidFill>
                    </a:lnT>
                    <a:lnB w="9525" cap="flat">
                      <a:solidFill>
                        <a:srgbClr val="23373B"/>
                      </a:solidFill>
                    </a:lnB>
                  </a:tcPr>
                </a:tc>
                <a:tc>
                  <a:txBody>
                    <a:bodyPr/>
                    <a:lstStyle/>
                    <a:p>
                      <a:pPr algn="l"/>
                      <a:r>
                        <a:rPr sz="1700" b="1" i="0">
                          <a:solidFill>
                            <a:srgbClr val="23373B"/>
                          </a:solidFill>
                          <a:latin typeface="Arial"/>
                        </a:rPr>
                        <a:t>Statistic</a:t>
                      </a:r>
                      <a:endParaRPr sz="1700"/>
                    </a:p>
                  </a:txBody>
                  <a:tcPr marL="91440" marR="91440" anchor="ctr">
                    <a:lnL w="0">
                      <a:noFill/>
                    </a:lnL>
                    <a:lnR w="0">
                      <a:noFill/>
                    </a:lnR>
                    <a:lnT w="15875" cap="flat">
                      <a:solidFill>
                        <a:srgbClr val="23373B"/>
                      </a:solidFill>
                    </a:lnT>
                    <a:lnB w="9525" cap="flat">
                      <a:solidFill>
                        <a:srgbClr val="23373B"/>
                      </a:solidFill>
                    </a:lnB>
                  </a:tcPr>
                </a:tc>
                <a:tc>
                  <a:txBody>
                    <a:bodyPr/>
                    <a:lstStyle/>
                    <a:p>
                      <a:pPr algn="l"/>
                      <a:r>
                        <a:rPr sz="1700" b="1" i="0">
                          <a:solidFill>
                            <a:srgbClr val="23373B"/>
                          </a:solidFill>
                          <a:latin typeface="Arial"/>
                        </a:rPr>
                        <a:t>Background</a:t>
                      </a:r>
                      <a:endParaRPr sz="1700"/>
                    </a:p>
                  </a:txBody>
                  <a:tcPr marL="91440" marR="91440" anchor="ctr">
                    <a:lnL w="0">
                      <a:noFill/>
                    </a:lnL>
                    <a:lnR w="0">
                      <a:noFill/>
                    </a:lnR>
                    <a:lnT w="15875" cap="flat">
                      <a:solidFill>
                        <a:srgbClr val="23373B"/>
                      </a:solidFill>
                    </a:lnT>
                    <a:lnB w="9525" cap="flat">
                      <a:solidFill>
                        <a:srgbClr val="23373B"/>
                      </a:solidFill>
                    </a:lnB>
                  </a:tcPr>
                </a:tc>
                <a:tc>
                  <a:txBody>
                    <a:bodyPr/>
                    <a:lstStyle/>
                    <a:p>
                      <a:pPr algn="l"/>
                      <a:r>
                        <a:rPr sz="1700" b="1" i="0">
                          <a:solidFill>
                            <a:srgbClr val="23373B"/>
                          </a:solidFill>
                          <a:latin typeface="Arial"/>
                        </a:rPr>
                        <a:t>False alarm rate</a:t>
                      </a:r>
                      <a:endParaRPr sz="1700"/>
                    </a:p>
                  </a:txBody>
                  <a:tcPr marL="91440" marR="91440" anchor="ctr">
                    <a:lnL w="0">
                      <a:noFill/>
                    </a:lnL>
                    <a:lnR w="0">
                      <a:noFill/>
                    </a:lnR>
                    <a:lnT w="15875" cap="flat">
                      <a:solidFill>
                        <a:srgbClr val="23373B"/>
                      </a:solidFill>
                    </a:lnT>
                    <a:lnB w="9525" cap="flat">
                      <a:solidFill>
                        <a:srgbClr val="23373B"/>
                      </a:solidFill>
                    </a:lnB>
                  </a:tcPr>
                </a:tc>
                <a:tc>
                  <a:txBody>
                    <a:bodyPr/>
                    <a:lstStyle/>
                    <a:p>
                      <a:pPr algn="l"/>
                      <a:r>
                        <a:rPr sz="1700" b="1" i="0">
                          <a:solidFill>
                            <a:srgbClr val="23373B"/>
                          </a:solidFill>
                          <a:latin typeface="Arial"/>
                        </a:rPr>
                        <a:t>Probability</a:t>
                      </a:r>
                      <a:endParaRPr sz="1700"/>
                    </a:p>
                  </a:txBody>
                  <a:tcPr marL="91440" marR="91440" anchor="ctr">
                    <a:lnL w="0">
                      <a:noFill/>
                    </a:lnL>
                    <a:lnR w="0">
                      <a:noFill/>
                    </a:lnR>
                    <a:lnT w="15875" cap="flat">
                      <a:solidFill>
                        <a:srgbClr val="23373B"/>
                      </a:solidFill>
                    </a:lnT>
                    <a:lnB w="9525" cap="flat">
                      <a:solidFill>
                        <a:srgbClr val="23373B"/>
                      </a:solidFill>
                    </a:lnB>
                  </a:tcPr>
                </a:tc>
                <a:tc>
                  <a:txBody>
                    <a:bodyPr/>
                    <a:lstStyle/>
                    <a:p>
                      <a:pPr algn="l"/>
                      <a:r>
                        <a:rPr sz="1700" b="1" i="0">
                          <a:solidFill>
                            <a:srgbClr val="23373B"/>
                          </a:solidFill>
                          <a:latin typeface="Arial"/>
                        </a:rPr>
                        <a:t>Significance</a:t>
                      </a:r>
                      <a:endParaRPr sz="1700"/>
                    </a:p>
                  </a:txBody>
                  <a:tcPr marL="91440" marR="91440" anchor="ctr">
                    <a:lnL w="0">
                      <a:noFill/>
                    </a:lnL>
                    <a:lnR w="0">
                      <a:noFill/>
                    </a:lnR>
                    <a:lnT w="15875" cap="flat">
                      <a:solidFill>
                        <a:srgbClr val="23373B"/>
                      </a:solidFill>
                    </a:lnT>
                    <a:lnB w="9525" cap="flat">
                      <a:solidFill>
                        <a:srgbClr val="23373B"/>
                      </a:solidFill>
                    </a:lnB>
                  </a:tcPr>
                </a:tc>
              </a:tr>
              <a:tr h="346202">
                <a:tc>
                  <a:txBody>
                    <a:bodyPr/>
                    <a:lstStyle/>
                    <a:p>
                      <a:pPr algn="l"/>
                      <a:r>
                        <a:rPr sz="1700" b="0" i="0">
                          <a:solidFill>
                            <a:srgbClr val="23373B"/>
                          </a:solidFill>
                          <a:latin typeface="Arial"/>
                        </a:rPr>
                        <a:t>Binary coalescence</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ρ̂</a:t>
                      </a:r>
                      <a:r>
                        <a:rPr sz="1700" b="0" i="0" baseline="-25000">
                          <a:solidFill>
                            <a:srgbClr val="23373B"/>
                          </a:solidFill>
                          <a:latin typeface="Arial"/>
                        </a:rPr>
                        <a:t>c</a:t>
                      </a:r>
                      <a:r>
                        <a:rPr sz="1700" b="0" i="0">
                          <a:solidFill>
                            <a:srgbClr val="23373B"/>
                          </a:solidFill>
                          <a:latin typeface="Arial"/>
                        </a:rPr>
                        <a:t> = 23.6</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608 000 yr</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&lt; 1 in 203 000 yr</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&lt; 2×10</a:t>
                      </a:r>
                      <a:r>
                        <a:rPr sz="1700" b="0" i="0" baseline="30000">
                          <a:solidFill>
                            <a:srgbClr val="23373B"/>
                          </a:solidFill>
                          <a:latin typeface="Arial"/>
                        </a:rPr>
                        <a:t>-7</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&gt; 5.1σ</a:t>
                      </a:r>
                      <a:endParaRPr sz="1700"/>
                    </a:p>
                  </a:txBody>
                  <a:tcPr marL="91440" marR="91440" anchor="ctr">
                    <a:lnL w="0">
                      <a:noFill/>
                    </a:lnL>
                    <a:lnR w="0">
                      <a:noFill/>
                    </a:lnR>
                    <a:lnT w="0">
                      <a:noFill/>
                    </a:lnT>
                    <a:lnB w="0">
                      <a:noFill/>
                    </a:lnB>
                  </a:tcPr>
                </a:tc>
              </a:tr>
              <a:tr h="346202">
                <a:tc>
                  <a:txBody>
                    <a:bodyPr/>
                    <a:lstStyle/>
                    <a:p>
                      <a:pPr algn="l"/>
                      <a:r>
                        <a:rPr sz="1700" b="0" i="0">
                          <a:solidFill>
                            <a:srgbClr val="23373B"/>
                          </a:solidFill>
                          <a:latin typeface="Arial"/>
                        </a:rPr>
                        <a:t>Generic, class C3</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η</a:t>
                      </a:r>
                      <a:r>
                        <a:rPr sz="1700" b="0" i="0" baseline="-25000">
                          <a:solidFill>
                            <a:srgbClr val="23373B"/>
                          </a:solidFill>
                          <a:latin typeface="Arial"/>
                        </a:rPr>
                        <a:t>c</a:t>
                      </a:r>
                      <a:r>
                        <a:rPr sz="1700" b="0" i="0">
                          <a:solidFill>
                            <a:srgbClr val="23373B"/>
                          </a:solidFill>
                          <a:latin typeface="Arial"/>
                        </a:rPr>
                        <a:t> = 20.0</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67 400 yr</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&lt; 1 in 22 500 yr</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&lt; 2×10</a:t>
                      </a:r>
                      <a:r>
                        <a:rPr sz="1700" b="0" i="0" baseline="30000">
                          <a:solidFill>
                            <a:srgbClr val="23373B"/>
                          </a:solidFill>
                          <a:latin typeface="Arial"/>
                        </a:rPr>
                        <a:t>-6</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4.6σ</a:t>
                      </a:r>
                      <a:endParaRPr sz="1700"/>
                    </a:p>
                  </a:txBody>
                  <a:tcPr marL="91440" marR="91440" anchor="ctr">
                    <a:lnL w="0">
                      <a:noFill/>
                    </a:lnL>
                    <a:lnR w="0">
                      <a:noFill/>
                    </a:lnR>
                    <a:lnT w="0">
                      <a:noFill/>
                    </a:lnT>
                    <a:lnB w="0">
                      <a:noFill/>
                    </a:lnB>
                  </a:tcPr>
                </a:tc>
              </a:tr>
              <a:tr h="346202">
                <a:tc>
                  <a:txBody>
                    <a:bodyPr/>
                    <a:lstStyle/>
                    <a:p>
                      <a:pPr algn="l"/>
                      <a:r>
                        <a:rPr sz="1700" b="0" i="0">
                          <a:solidFill>
                            <a:srgbClr val="23373B"/>
                          </a:solidFill>
                          <a:latin typeface="Arial"/>
                        </a:rPr>
                        <a:t>Generic, C2+C3</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η</a:t>
                      </a:r>
                      <a:r>
                        <a:rPr sz="1700" b="0" i="0" baseline="-25000">
                          <a:solidFill>
                            <a:srgbClr val="23373B"/>
                          </a:solidFill>
                          <a:latin typeface="Arial"/>
                        </a:rPr>
                        <a:t>c</a:t>
                      </a:r>
                      <a:r>
                        <a:rPr sz="1700" b="0" i="0">
                          <a:solidFill>
                            <a:srgbClr val="23373B"/>
                          </a:solidFill>
                          <a:latin typeface="Arial"/>
                        </a:rPr>
                        <a:t> = 20.0</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same events</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1 in 8 400 yr</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5×10</a:t>
                      </a:r>
                      <a:r>
                        <a:rPr sz="1700" b="0" i="0" baseline="30000">
                          <a:solidFill>
                            <a:srgbClr val="23373B"/>
                          </a:solidFill>
                          <a:latin typeface="Arial"/>
                        </a:rPr>
                        <a:t>-6</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4.4σ</a:t>
                      </a:r>
                      <a:endParaRPr sz="1700"/>
                    </a:p>
                  </a:txBody>
                  <a:tcPr marL="91440" marR="91440" anchor="ctr">
                    <a:lnL w="0">
                      <a:noFill/>
                    </a:lnL>
                    <a:lnR w="0">
                      <a:noFill/>
                    </a:lnR>
                    <a:lnT w="0">
                      <a:noFill/>
                    </a:lnT>
                    <a:lnB w="0">
                      <a:noFill/>
                    </a:lnB>
                  </a:tcPr>
                </a:tc>
              </a:tr>
              <a:tr h="346202">
                <a:tc>
                  <a:txBody>
                    <a:bodyPr/>
                    <a:lstStyle/>
                    <a:p>
                      <a:pPr algn="l"/>
                      <a:r>
                        <a:rPr sz="1700" b="0" i="0">
                          <a:solidFill>
                            <a:srgbClr val="23373B"/>
                          </a:solidFill>
                          <a:latin typeface="Arial"/>
                        </a:rPr>
                        <a:t>Second event (binary)</a:t>
                      </a:r>
                      <a:endParaRPr sz="1700"/>
                    </a:p>
                  </a:txBody>
                  <a:tcPr marL="91440" marR="91440" anchor="ctr">
                    <a:lnL w="0">
                      <a:noFill/>
                    </a:lnL>
                    <a:lnR w="0">
                      <a:noFill/>
                    </a:lnR>
                    <a:lnT w="0">
                      <a:noFill/>
                    </a:lnT>
                    <a:lnB w="15875" cap="flat">
                      <a:solidFill>
                        <a:srgbClr val="23373B"/>
                      </a:solidFill>
                    </a:lnB>
                  </a:tcPr>
                </a:tc>
                <a:tc>
                  <a:txBody>
                    <a:bodyPr/>
                    <a:lstStyle/>
                    <a:p>
                      <a:pPr algn="l"/>
                      <a:r>
                        <a:rPr sz="1700" b="0" i="0">
                          <a:solidFill>
                            <a:srgbClr val="23373B"/>
                          </a:solidFill>
                          <a:latin typeface="Arial"/>
                        </a:rPr>
                        <a:t>-</a:t>
                      </a:r>
                      <a:endParaRPr sz="1700"/>
                    </a:p>
                  </a:txBody>
                  <a:tcPr marL="91440" marR="91440" anchor="ctr">
                    <a:lnL w="0">
                      <a:noFill/>
                    </a:lnL>
                    <a:lnR w="0">
                      <a:noFill/>
                    </a:lnR>
                    <a:lnT w="0">
                      <a:noFill/>
                    </a:lnT>
                    <a:lnB w="15875" cap="flat">
                      <a:solidFill>
                        <a:srgbClr val="23373B"/>
                      </a:solidFill>
                    </a:lnB>
                  </a:tcPr>
                </a:tc>
                <a:tc>
                  <a:txBody>
                    <a:bodyPr/>
                    <a:lstStyle/>
                    <a:p>
                      <a:pPr algn="l"/>
                      <a:r>
                        <a:rPr sz="1700" b="0" i="0">
                          <a:solidFill>
                            <a:srgbClr val="23373B"/>
                          </a:solidFill>
                          <a:latin typeface="Arial"/>
                        </a:rPr>
                        <a:t>without GW150914</a:t>
                      </a:r>
                      <a:endParaRPr sz="1700"/>
                    </a:p>
                  </a:txBody>
                  <a:tcPr marL="91440" marR="91440" anchor="ctr">
                    <a:lnL w="0">
                      <a:noFill/>
                    </a:lnL>
                    <a:lnR w="0">
                      <a:noFill/>
                    </a:lnR>
                    <a:lnT w="0">
                      <a:noFill/>
                    </a:lnT>
                    <a:lnB w="15875" cap="flat">
                      <a:solidFill>
                        <a:srgbClr val="23373B"/>
                      </a:solidFill>
                    </a:lnB>
                  </a:tcPr>
                </a:tc>
                <a:tc>
                  <a:txBody>
                    <a:bodyPr/>
                    <a:lstStyle/>
                    <a:p>
                      <a:pPr algn="l"/>
                      <a:r>
                        <a:rPr sz="1700" b="0" i="0">
                          <a:solidFill>
                            <a:srgbClr val="23373B"/>
                          </a:solidFill>
                          <a:latin typeface="Arial"/>
                        </a:rPr>
                        <a:t>1 per 2.3 yr</a:t>
                      </a:r>
                      <a:endParaRPr sz="1700"/>
                    </a:p>
                  </a:txBody>
                  <a:tcPr marL="91440" marR="91440" anchor="ctr">
                    <a:lnL w="0">
                      <a:noFill/>
                    </a:lnL>
                    <a:lnR w="0">
                      <a:noFill/>
                    </a:lnR>
                    <a:lnT w="0">
                      <a:noFill/>
                    </a:lnT>
                    <a:lnB w="15875" cap="flat">
                      <a:solidFill>
                        <a:srgbClr val="23373B"/>
                      </a:solidFill>
                    </a:lnB>
                  </a:tcPr>
                </a:tc>
                <a:tc>
                  <a:txBody>
                    <a:bodyPr/>
                    <a:lstStyle/>
                    <a:p>
                      <a:pPr algn="l"/>
                      <a:r>
                        <a:rPr sz="1700" b="0" i="0">
                          <a:solidFill>
                            <a:srgbClr val="23373B"/>
                          </a:solidFill>
                          <a:latin typeface="Arial"/>
                        </a:rPr>
                        <a:t>0.02</a:t>
                      </a:r>
                      <a:endParaRPr sz="1700"/>
                    </a:p>
                  </a:txBody>
                  <a:tcPr marL="91440" marR="91440" anchor="ctr">
                    <a:lnL w="0">
                      <a:noFill/>
                    </a:lnL>
                    <a:lnR w="0">
                      <a:noFill/>
                    </a:lnR>
                    <a:lnT w="0">
                      <a:noFill/>
                    </a:lnT>
                    <a:lnB w="15875" cap="flat">
                      <a:solidFill>
                        <a:srgbClr val="23373B"/>
                      </a:solidFill>
                    </a:lnB>
                  </a:tcPr>
                </a:tc>
                <a:tc>
                  <a:txBody>
                    <a:bodyPr/>
                    <a:lstStyle/>
                    <a:p>
                      <a:pPr algn="l"/>
                      <a:r>
                        <a:rPr sz="1700" b="0" i="0">
                          <a:solidFill>
                            <a:srgbClr val="23373B"/>
                          </a:solidFill>
                          <a:latin typeface="Arial"/>
                        </a:rPr>
                        <a:t>-</a:t>
                      </a:r>
                      <a:endParaRPr sz="1700"/>
                    </a:p>
                  </a:txBody>
                  <a:tcPr marL="91440" marR="91440" anchor="ctr">
                    <a:lnL w="0">
                      <a:noFill/>
                    </a:lnL>
                    <a:lnR w="0">
                      <a:noFill/>
                    </a:lnR>
                    <a:lnT w="0">
                      <a:noFill/>
                    </a:lnT>
                    <a:lnB w="15875" cap="flat">
                      <a:solidFill>
                        <a:srgbClr val="23373B"/>
                      </a:solidFill>
                    </a:lnB>
                  </a:tcPr>
                </a:tc>
              </a:tr>
            </a:tbl>
          </a:graphicData>
        </a:graphic>
      </p:graphicFrame>
      <p:sp>
        <p:nvSpPr>
          <p:cNvPr id="4" name="TextBox 3"/>
          <p:cNvSpPr txBox="1"/>
          <p:nvPr/>
        </p:nvSpPr>
        <p:spPr>
          <a:xfrm>
            <a:off x="502920" y="4308221"/>
            <a:ext cx="11186160" cy="457200"/>
          </a:xfrm>
          <a:prstGeom prst="rect">
            <a:avLst/>
          </a:prstGeom>
          <a:noFill/>
        </p:spPr>
        <p:txBody>
          <a:bodyPr wrap="square" anchor="t">
            <a:spAutoFit/>
          </a:bodyPr>
          <a:lstStyle/>
          <a:p>
            <a:pPr algn="l">
              <a:lnSpc>
                <a:spcPct val="115000"/>
              </a:lnSpc>
            </a:pPr>
            <a:r>
              <a:rPr sz="1700" b="0" i="0">
                <a:solidFill>
                  <a:srgbClr val="666666"/>
                </a:solidFill>
                <a:latin typeface="Arial"/>
              </a:rPr>
              <a:t>C3 includes a trials factor of 3. C2+C3 has four background events at 32.1 or more. A dash: the paper gives no value for that cell.</a:t>
            </a:r>
            <a:endParaRPr sz="170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86384"/>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tIns="109728"/>
          <a:lstStyle/>
          <a:p>
            <a:pPr algn="l"/>
            <a:r>
              <a:rPr sz="2500" b="1" i="0">
                <a:solidFill>
                  <a:srgbClr val="FFFFFF"/>
                </a:solidFill>
                <a:latin typeface="Arial"/>
              </a:rPr>
              <a:t>Backup: the detector numbers behind the sensitivity</a:t>
            </a:r>
            <a:endParaRPr sz="2500"/>
          </a:p>
        </p:txBody>
      </p:sp>
      <p:graphicFrame>
        <p:nvGraphicFramePr>
          <p:cNvPr id="3" name="Table 2"/>
          <p:cNvGraphicFramePr>
            <a:graphicFrameLocks noGrp="1"/>
          </p:cNvGraphicFramePr>
          <p:nvPr/>
        </p:nvGraphicFramePr>
        <p:xfrm>
          <a:off x="502920" y="2432177"/>
          <a:ext cx="11186160" cy="2423414"/>
        </p:xfrm>
        <a:graphic>
          <a:graphicData uri="http://schemas.openxmlformats.org/drawingml/2006/table">
            <a:tbl>
              <a:tblPr firstRow="1" bandRow="1"/>
              <a:tblGrid>
                <a:gridCol w="5083556"/>
                <a:gridCol w="6102604"/>
              </a:tblGrid>
              <a:tr h="346202">
                <a:tc>
                  <a:txBody>
                    <a:bodyPr/>
                    <a:lstStyle/>
                    <a:p>
                      <a:pPr algn="l"/>
                      <a:r>
                        <a:rPr sz="1700" b="1" i="0">
                          <a:solidFill>
                            <a:srgbClr val="23373B"/>
                          </a:solidFill>
                          <a:latin typeface="Arial"/>
                        </a:rPr>
                        <a:t>Quantity</a:t>
                      </a:r>
                      <a:endParaRPr sz="1700"/>
                    </a:p>
                  </a:txBody>
                  <a:tcPr marL="91440" marR="91440" anchor="ctr">
                    <a:lnL w="0">
                      <a:noFill/>
                    </a:lnL>
                    <a:lnR w="0">
                      <a:noFill/>
                    </a:lnR>
                    <a:lnT w="15875" cap="flat">
                      <a:solidFill>
                        <a:srgbClr val="23373B"/>
                      </a:solidFill>
                    </a:lnT>
                    <a:lnB w="9525" cap="flat">
                      <a:solidFill>
                        <a:srgbClr val="23373B"/>
                      </a:solidFill>
                    </a:lnB>
                  </a:tcPr>
                </a:tc>
                <a:tc>
                  <a:txBody>
                    <a:bodyPr/>
                    <a:lstStyle/>
                    <a:p>
                      <a:pPr algn="l"/>
                      <a:r>
                        <a:rPr sz="1700" b="1" i="0">
                          <a:solidFill>
                            <a:srgbClr val="23373B"/>
                          </a:solidFill>
                          <a:latin typeface="Arial"/>
                        </a:rPr>
                        <a:t>Value</a:t>
                      </a:r>
                      <a:endParaRPr sz="1700"/>
                    </a:p>
                  </a:txBody>
                  <a:tcPr marL="91440" marR="91440" anchor="ctr">
                    <a:lnL w="0">
                      <a:noFill/>
                    </a:lnL>
                    <a:lnR w="0">
                      <a:noFill/>
                    </a:lnR>
                    <a:lnT w="15875" cap="flat">
                      <a:solidFill>
                        <a:srgbClr val="23373B"/>
                      </a:solidFill>
                    </a:lnT>
                    <a:lnB w="9525" cap="flat">
                      <a:solidFill>
                        <a:srgbClr val="23373B"/>
                      </a:solidFill>
                    </a:lnB>
                  </a:tcPr>
                </a:tc>
              </a:tr>
              <a:tr h="346202">
                <a:tc>
                  <a:txBody>
                    <a:bodyPr/>
                    <a:lstStyle/>
                    <a:p>
                      <a:pPr algn="l"/>
                      <a:r>
                        <a:rPr sz="1700" b="0" i="0">
                          <a:solidFill>
                            <a:srgbClr val="23373B"/>
                          </a:solidFill>
                          <a:latin typeface="Arial"/>
                        </a:rPr>
                        <a:t>Arm length</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4 km</a:t>
                      </a:r>
                      <a:endParaRPr sz="1700"/>
                    </a:p>
                  </a:txBody>
                  <a:tcPr marL="91440" marR="91440" anchor="ctr">
                    <a:lnL w="0">
                      <a:noFill/>
                    </a:lnL>
                    <a:lnR w="0">
                      <a:noFill/>
                    </a:lnR>
                    <a:lnT w="0">
                      <a:noFill/>
                    </a:lnT>
                    <a:lnB w="0">
                      <a:noFill/>
                    </a:lnB>
                  </a:tcPr>
                </a:tc>
              </a:tr>
              <a:tr h="346202">
                <a:tc>
                  <a:txBody>
                    <a:bodyPr/>
                    <a:lstStyle/>
                    <a:p>
                      <a:pPr algn="l"/>
                      <a:r>
                        <a:rPr sz="1700" b="0" i="0">
                          <a:solidFill>
                            <a:srgbClr val="23373B"/>
                          </a:solidFill>
                          <a:latin typeface="Arial"/>
                        </a:rPr>
                        <a:t>Test masses</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40 kg fused silica</a:t>
                      </a:r>
                      <a:endParaRPr sz="1700"/>
                    </a:p>
                  </a:txBody>
                  <a:tcPr marL="91440" marR="91440" anchor="ctr">
                    <a:lnL w="0">
                      <a:noFill/>
                    </a:lnL>
                    <a:lnR w="0">
                      <a:noFill/>
                    </a:lnR>
                    <a:lnT w="0">
                      <a:noFill/>
                    </a:lnT>
                    <a:lnB w="0">
                      <a:noFill/>
                    </a:lnB>
                  </a:tcPr>
                </a:tc>
              </a:tr>
              <a:tr h="346202">
                <a:tc>
                  <a:txBody>
                    <a:bodyPr/>
                    <a:lstStyle/>
                    <a:p>
                      <a:pPr algn="l"/>
                      <a:r>
                        <a:rPr sz="1700" b="0" i="0">
                          <a:solidFill>
                            <a:srgbClr val="23373B"/>
                          </a:solidFill>
                          <a:latin typeface="Arial"/>
                        </a:rPr>
                        <a:t>Seismic isolation above 10 Hz</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more than 10 orders of magnitude</a:t>
                      </a:r>
                      <a:endParaRPr sz="1700"/>
                    </a:p>
                  </a:txBody>
                  <a:tcPr marL="91440" marR="91440" anchor="ctr">
                    <a:lnL w="0">
                      <a:noFill/>
                    </a:lnL>
                    <a:lnR w="0">
                      <a:noFill/>
                    </a:lnR>
                    <a:lnT w="0">
                      <a:noFill/>
                    </a:lnT>
                    <a:lnB w="0">
                      <a:noFill/>
                    </a:lnB>
                  </a:tcPr>
                </a:tc>
              </a:tr>
              <a:tr h="346202">
                <a:tc>
                  <a:txBody>
                    <a:bodyPr/>
                    <a:lstStyle/>
                    <a:p>
                      <a:pPr algn="l"/>
                      <a:r>
                        <a:rPr sz="1700" b="0" i="0">
                          <a:solidFill>
                            <a:srgbClr val="23373B"/>
                          </a:solidFill>
                          <a:latin typeface="Arial"/>
                        </a:rPr>
                        <a:t>Beam tube pressure</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below 1 μPa</a:t>
                      </a:r>
                      <a:endParaRPr sz="1700"/>
                    </a:p>
                  </a:txBody>
                  <a:tcPr marL="91440" marR="91440" anchor="ctr">
                    <a:lnL w="0">
                      <a:noFill/>
                    </a:lnL>
                    <a:lnR w="0">
                      <a:noFill/>
                    </a:lnR>
                    <a:lnT w="0">
                      <a:noFill/>
                    </a:lnT>
                    <a:lnB w="0">
                      <a:noFill/>
                    </a:lnB>
                  </a:tcPr>
                </a:tc>
              </a:tr>
              <a:tr h="346202">
                <a:tc>
                  <a:txBody>
                    <a:bodyPr/>
                    <a:lstStyle/>
                    <a:p>
                      <a:pPr algn="l"/>
                      <a:r>
                        <a:rPr sz="1700" b="0" i="0">
                          <a:solidFill>
                            <a:srgbClr val="23373B"/>
                          </a:solidFill>
                          <a:latin typeface="Arial"/>
                        </a:rPr>
                        <a:t>Calibration (1 sigma)</a:t>
                      </a:r>
                      <a:endParaRPr sz="1700"/>
                    </a:p>
                  </a:txBody>
                  <a:tcPr marL="91440" marR="91440" anchor="ctr">
                    <a:lnL w="0">
                      <a:noFill/>
                    </a:lnL>
                    <a:lnR w="0">
                      <a:noFill/>
                    </a:lnR>
                    <a:lnT w="0">
                      <a:noFill/>
                    </a:lnT>
                    <a:lnB w="0">
                      <a:noFill/>
                    </a:lnB>
                  </a:tcPr>
                </a:tc>
                <a:tc>
                  <a:txBody>
                    <a:bodyPr/>
                    <a:lstStyle/>
                    <a:p>
                      <a:pPr algn="l"/>
                      <a:r>
                        <a:rPr sz="1700" b="0" i="0">
                          <a:solidFill>
                            <a:srgbClr val="23373B"/>
                          </a:solidFill>
                          <a:latin typeface="Arial"/>
                        </a:rPr>
                        <a:t>under 10% amplitude, 10 degrees phase</a:t>
                      </a:r>
                      <a:endParaRPr sz="1700"/>
                    </a:p>
                  </a:txBody>
                  <a:tcPr marL="91440" marR="91440" anchor="ctr">
                    <a:lnL w="0">
                      <a:noFill/>
                    </a:lnL>
                    <a:lnR w="0">
                      <a:noFill/>
                    </a:lnR>
                    <a:lnT w="0">
                      <a:noFill/>
                    </a:lnT>
                    <a:lnB w="0">
                      <a:noFill/>
                    </a:lnB>
                  </a:tcPr>
                </a:tc>
              </a:tr>
              <a:tr h="346202">
                <a:tc>
                  <a:txBody>
                    <a:bodyPr/>
                    <a:lstStyle/>
                    <a:p>
                      <a:pPr algn="l"/>
                      <a:r>
                        <a:rPr sz="1700" b="0" i="0">
                          <a:solidFill>
                            <a:srgbClr val="23373B"/>
                          </a:solidFill>
                          <a:latin typeface="Arial"/>
                        </a:rPr>
                        <a:t>Timing</a:t>
                      </a:r>
                      <a:endParaRPr sz="1700"/>
                    </a:p>
                  </a:txBody>
                  <a:tcPr marL="91440" marR="91440" anchor="ctr">
                    <a:lnL w="0">
                      <a:noFill/>
                    </a:lnL>
                    <a:lnR w="0">
                      <a:noFill/>
                    </a:lnR>
                    <a:lnT w="0">
                      <a:noFill/>
                    </a:lnT>
                    <a:lnB w="15875" cap="flat">
                      <a:solidFill>
                        <a:srgbClr val="23373B"/>
                      </a:solidFill>
                    </a:lnB>
                  </a:tcPr>
                </a:tc>
                <a:tc>
                  <a:txBody>
                    <a:bodyPr/>
                    <a:lstStyle/>
                    <a:p>
                      <a:pPr algn="l"/>
                      <a:r>
                        <a:rPr sz="1700" b="0" i="0">
                          <a:solidFill>
                            <a:srgbClr val="23373B"/>
                          </a:solidFill>
                          <a:latin typeface="Arial"/>
                        </a:rPr>
                        <a:t>GPS to better than 10 μs</a:t>
                      </a:r>
                      <a:endParaRPr sz="1700"/>
                    </a:p>
                  </a:txBody>
                  <a:tcPr marL="91440" marR="91440" anchor="ctr">
                    <a:lnL w="0">
                      <a:noFill/>
                    </a:lnL>
                    <a:lnR w="0">
                      <a:noFill/>
                    </a:lnR>
                    <a:lnT w="0">
                      <a:noFill/>
                    </a:lnT>
                    <a:lnB w="15875" cap="flat">
                      <a:solidFill>
                        <a:srgbClr val="23373B"/>
                      </a:solidFill>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